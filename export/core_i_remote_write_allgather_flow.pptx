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941832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00000"/>
                </a:solidFill>
                <a:latin typeface="Microsoft YaHei"/>
              </a:rPr>
              <a:t>8 核远程写入 AllGather：Core_i 单核执行流程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55555"/>
                </a:solidFill>
                <a:latin typeface="Microsoft YaHei"/>
              </a:rPr>
              <a:t>八个核心同时启动同一个算子；本图只展开任意一个 Core_i 的控制流与远程内存动作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59536"/>
            <a:ext cx="11393424" cy="384048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SIMULTANEOUS 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1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8C99"/>
                </a:solidFill>
                <a:latin typeface="Consolas"/>
              </a:rPr>
              <a:t>core_0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3824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E72B6"/>
                </a:solidFill>
                <a:latin typeface="Consolas"/>
              </a:rPr>
              <a:t>core_1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95928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3855F"/>
                </a:solidFill>
                <a:latin typeface="Consolas"/>
              </a:rPr>
              <a:t>core_2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1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76700"/>
                </a:solidFill>
                <a:latin typeface="Consolas"/>
              </a:rPr>
              <a:t>core_3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0136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6544C"/>
                </a:solidFill>
                <a:latin typeface="Consolas"/>
              </a:rPr>
              <a:t>core_4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050A2"/>
                </a:solidFill>
                <a:latin typeface="Consolas"/>
              </a:rPr>
              <a:t>core_5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5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8C99"/>
                </a:solidFill>
                <a:latin typeface="Consolas"/>
              </a:rPr>
              <a:t>core_6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932688"/>
            <a:ext cx="74980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960120"/>
            <a:ext cx="69494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E72B6"/>
                </a:solidFill>
                <a:latin typeface="Consolas"/>
              </a:rPr>
              <a:t>core_7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950976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72B6"/>
                </a:solidFill>
                <a:latin typeface="Consolas"/>
              </a:rPr>
              <a:t>launch AG_i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7584" y="950976"/>
            <a:ext cx="10698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F7D"/>
                </a:solidFill>
                <a:latin typeface="Consolas"/>
              </a:rPr>
              <a:t>i ∈ {0…7}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1380744"/>
            <a:ext cx="6446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B6F7D"/>
                </a:solidFill>
                <a:latin typeface="Arial"/>
              </a:rPr>
              <a:t>CORE_i / LOCAL CONTROL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380744"/>
            <a:ext cx="469087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B6F7D"/>
                </a:solidFill>
                <a:latin typeface="Arial"/>
              </a:rPr>
              <a:t>REMOTE MEMORY 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1554480"/>
            <a:ext cx="6446520" cy="40233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1554480"/>
            <a:ext cx="68580" cy="402336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6072" y="1618488"/>
            <a:ext cx="274320" cy="27432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1609344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启动 AllGather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1609344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Consolas"/>
              </a:rPr>
              <a:t>Core_i  ·  X_i [C]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1883664"/>
            <a:ext cx="5687568" cy="457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八个 core 同时进入同一算子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093976"/>
            <a:ext cx="6446520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2093976"/>
            <a:ext cx="68580" cy="438912"/>
          </a:xfrm>
          <a:prstGeom prst="rect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072" y="2157984"/>
            <a:ext cx="274320" cy="274320"/>
          </a:xfrm>
          <a:prstGeom prst="ellipse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2157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2148840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准备接收缓冲区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2148840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E72B6"/>
                </a:solidFill>
                <a:latin typeface="Consolas"/>
              </a:rPr>
              <a:t>Y_i[0:8]  ·  ready_i=0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2423160"/>
            <a:ext cx="5687568" cy="822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每个 slot 预留 C bytes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2670048"/>
            <a:ext cx="6446520" cy="40233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2670048"/>
            <a:ext cx="68580" cy="402336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6072" y="2734056"/>
            <a:ext cx="274320" cy="274320"/>
          </a:xfrm>
          <a:prstGeom prst="ellipse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27340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2724912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放置本地分片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2724912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3855F"/>
                </a:solidFill>
                <a:latin typeface="Consolas"/>
              </a:rPr>
              <a:t>Y_i[i] ← X_i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2999232"/>
            <a:ext cx="5687568" cy="457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local copy / alias；不走 NoC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3209544"/>
            <a:ext cx="644652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3209544"/>
            <a:ext cx="68580" cy="457200"/>
          </a:xfrm>
          <a:prstGeom prst="rect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6072" y="3273551"/>
            <a:ext cx="274320" cy="274320"/>
          </a:xfrm>
          <a:prstGeom prst="ellipse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3273551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264408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生成远程写描述符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3264408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B76700"/>
                </a:solidFill>
                <a:latin typeface="Consolas"/>
              </a:rPr>
              <a:t>dst = Y_j + i·C  (j ≠ 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3538727"/>
            <a:ext cx="5687568" cy="1005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目标 core j 的第 i 个接收槽位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3803904"/>
            <a:ext cx="644652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3803904"/>
            <a:ext cx="68580" cy="530352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76072" y="3867912"/>
            <a:ext cx="274320" cy="27432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" y="38679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" y="3858768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提交 7 个远程写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3858768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8C99"/>
                </a:solidFill>
                <a:latin typeface="Consolas"/>
              </a:rPr>
              <a:t>remote_write(X_i → Y_j[i], C) × 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4133088"/>
            <a:ext cx="5687568" cy="173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DMA / NoC；可并发 outstanding；不做加法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4480560"/>
            <a:ext cx="6446520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" y="4480560"/>
            <a:ext cx="68580" cy="438912"/>
          </a:xfrm>
          <a:prstGeom prst="rect">
            <a:avLst/>
          </a:prstGeom>
          <a:solidFill>
            <a:srgbClr val="C65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76072" y="4544568"/>
            <a:ext cx="274320" cy="274320"/>
          </a:xfrm>
          <a:prstGeom prst="ellipse">
            <a:avLst/>
          </a:prstGeom>
          <a:solidFill>
            <a:srgbClr val="C65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" y="45445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" y="4535424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本核写入顺序栅栏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4535424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C6544C"/>
                </a:solidFill>
                <a:latin typeface="Consolas"/>
              </a:rPr>
              <a:t>fence core_i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" y="4809744"/>
            <a:ext cx="5687568" cy="822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payload writes 先完成并对后续同步可见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056632"/>
            <a:ext cx="6446520" cy="4754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056632"/>
            <a:ext cx="68580" cy="475488"/>
          </a:xfrm>
          <a:prstGeom prst="rect">
            <a:avLst/>
          </a:prstGeom>
          <a:solidFill>
            <a:srgbClr val="70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76072" y="5120640"/>
            <a:ext cx="274320" cy="274320"/>
          </a:xfrm>
          <a:prstGeom prst="ellipse">
            <a:avLst/>
          </a:prstGeom>
          <a:solidFill>
            <a:srgbClr val="70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" y="5120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" y="5111496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8 核集合同步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1840" y="5111496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0A2"/>
                </a:solidFill>
                <a:latin typeface="Consolas"/>
              </a:rPr>
              <a:t>sync core_0~8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" y="5385816"/>
            <a:ext cx="568756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所有参与者到达 fence 后再继续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5641848"/>
            <a:ext cx="6446520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5641848"/>
            <a:ext cx="68580" cy="438912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76072" y="5705856"/>
            <a:ext cx="274320" cy="274320"/>
          </a:xfrm>
          <a:prstGeom prst="ellipse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6072" y="57058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F9FB"/>
                </a:solidFill>
                <a:latin typeface="Arial"/>
              </a:rP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0120" y="5696712"/>
            <a:ext cx="2322576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111"/>
                </a:solidFill>
                <a:latin typeface="Microsoft YaHei"/>
              </a:rPr>
              <a:t>读取完整结果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91840" y="5696712"/>
            <a:ext cx="335584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3855F"/>
                </a:solidFill>
                <a:latin typeface="Consolas"/>
              </a:rPr>
              <a:t>Y_i = [X_0, X_1, …, X_7]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" y="5971032"/>
            <a:ext cx="5687568" cy="822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B6F7D"/>
                </a:solidFill>
                <a:latin typeface="Microsoft YaHei"/>
              </a:rPr>
              <a:t>全部 slot 有效；交给后续算子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3502152" y="1993392"/>
            <a:ext cx="201168" cy="118872"/>
          </a:xfrm>
          <a:prstGeom prst="down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own Arrow 83"/>
          <p:cNvSpPr/>
          <p:nvPr/>
        </p:nvSpPr>
        <p:spPr>
          <a:xfrm>
            <a:off x="3502152" y="2578608"/>
            <a:ext cx="201168" cy="118872"/>
          </a:xfrm>
          <a:prstGeom prst="down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own Arrow 84"/>
          <p:cNvSpPr/>
          <p:nvPr/>
        </p:nvSpPr>
        <p:spPr>
          <a:xfrm>
            <a:off x="3502152" y="3127248"/>
            <a:ext cx="201168" cy="118872"/>
          </a:xfrm>
          <a:prstGeom prst="down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own Arrow 85"/>
          <p:cNvSpPr/>
          <p:nvPr/>
        </p:nvSpPr>
        <p:spPr>
          <a:xfrm>
            <a:off x="3502152" y="3730752"/>
            <a:ext cx="201168" cy="118872"/>
          </a:xfrm>
          <a:prstGeom prst="down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own Arrow 86"/>
          <p:cNvSpPr/>
          <p:nvPr/>
        </p:nvSpPr>
        <p:spPr>
          <a:xfrm>
            <a:off x="3502152" y="4370832"/>
            <a:ext cx="201168" cy="118872"/>
          </a:xfrm>
          <a:prstGeom prst="down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own Arrow 87"/>
          <p:cNvSpPr/>
          <p:nvPr/>
        </p:nvSpPr>
        <p:spPr>
          <a:xfrm>
            <a:off x="3502152" y="4937760"/>
            <a:ext cx="201168" cy="118872"/>
          </a:xfrm>
          <a:prstGeom prst="down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own Arrow 88"/>
          <p:cNvSpPr/>
          <p:nvPr/>
        </p:nvSpPr>
        <p:spPr>
          <a:xfrm>
            <a:off x="3502152" y="5532120"/>
            <a:ext cx="201168" cy="118872"/>
          </a:xfrm>
          <a:prstGeom prst="down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086600" y="1554480"/>
            <a:ext cx="4690872" cy="45902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96912" y="1746504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Microsoft YaHei"/>
              </a:rPr>
              <a:t>Core_i 的一个源分片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96912" y="2029968"/>
            <a:ext cx="1353312" cy="557784"/>
          </a:xfrm>
          <a:prstGeom prst="roundRect">
            <a:avLst/>
          </a:prstGeom>
          <a:solidFill>
            <a:srgbClr val="EAF2F5"/>
          </a:solidFill>
          <a:ln w="1270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24927" y="21031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8C99"/>
                </a:solidFill>
                <a:latin typeface="Consolas"/>
              </a:rPr>
              <a:t>X_i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15783" y="2350008"/>
            <a:ext cx="111556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6F7D"/>
                </a:solidFill>
                <a:latin typeface="Consolas"/>
              </a:rPr>
              <a:t>[C bytes]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79408" y="1856231"/>
            <a:ext cx="232257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76700"/>
                </a:solidFill>
                <a:latin typeface="Microsoft YaHei"/>
              </a:rPr>
              <a:t>写入同一个 offset：i·C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8668512" y="2304288"/>
            <a:ext cx="274320" cy="0"/>
          </a:xfrm>
          <a:prstGeom prst="line">
            <a:avLst/>
          </a:prstGeom>
          <a:ln w="2032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ight Arrow 96"/>
          <p:cNvSpPr/>
          <p:nvPr/>
        </p:nvSpPr>
        <p:spPr>
          <a:xfrm>
            <a:off x="8787384" y="2240280"/>
            <a:ext cx="182880" cy="128016"/>
          </a:xfrm>
          <a:prstGeom prst="rightArrow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8942832" y="2304288"/>
            <a:ext cx="0" cy="3291840"/>
          </a:xfrm>
          <a:prstGeom prst="line">
            <a:avLst/>
          </a:prstGeom>
          <a:ln w="1397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42832" y="2386584"/>
            <a:ext cx="54864" cy="0"/>
          </a:xfrm>
          <a:prstGeom prst="line">
            <a:avLst/>
          </a:prstGeom>
          <a:ln w="1143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8997696" y="2221992"/>
            <a:ext cx="2496312" cy="329184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25712" y="2267712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core_0 : Y_0[i]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8942832" y="2788920"/>
            <a:ext cx="54864" cy="0"/>
          </a:xfrm>
          <a:prstGeom prst="line">
            <a:avLst/>
          </a:prstGeom>
          <a:ln w="1143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8997696" y="2624328"/>
            <a:ext cx="2496312" cy="329184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25712" y="267004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core_1 : Y_1[i]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942832" y="3191256"/>
            <a:ext cx="54864" cy="0"/>
          </a:xfrm>
          <a:prstGeom prst="line">
            <a:avLst/>
          </a:prstGeom>
          <a:ln w="1143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8997696" y="3026664"/>
            <a:ext cx="2496312" cy="329184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25712" y="3072384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core_2 : Y_2[i]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8942832" y="3593592"/>
            <a:ext cx="54864" cy="0"/>
          </a:xfrm>
          <a:prstGeom prst="line">
            <a:avLst/>
          </a:prstGeom>
          <a:ln w="1143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8997696" y="3429000"/>
            <a:ext cx="2496312" cy="329184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25712" y="347472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core_3 : Y_3[i]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942832" y="3995928"/>
            <a:ext cx="54864" cy="0"/>
          </a:xfrm>
          <a:prstGeom prst="line">
            <a:avLst/>
          </a:prstGeom>
          <a:ln w="11430">
            <a:solidFill>
              <a:srgbClr val="C2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8997696" y="3831336"/>
            <a:ext cx="2496312" cy="329184"/>
          </a:xfrm>
          <a:prstGeom prst="round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25712" y="3877056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F7D"/>
                </a:solidFill>
                <a:latin typeface="Consolas"/>
              </a:rPr>
              <a:t>...     : ...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8942832" y="4398264"/>
            <a:ext cx="54864" cy="0"/>
          </a:xfrm>
          <a:prstGeom prst="line">
            <a:avLst/>
          </a:prstGeom>
          <a:ln w="1143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8997696" y="4233672"/>
            <a:ext cx="2496312" cy="329184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25712" y="4279392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core_5 : Y_5[i]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942832" y="4800600"/>
            <a:ext cx="54864" cy="0"/>
          </a:xfrm>
          <a:prstGeom prst="line">
            <a:avLst/>
          </a:prstGeom>
          <a:ln w="1143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8997696" y="4636008"/>
            <a:ext cx="2496312" cy="329184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25712" y="468172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core_6 : Y_6[i]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8942832" y="5202936"/>
            <a:ext cx="54864" cy="0"/>
          </a:xfrm>
          <a:prstGeom prst="line">
            <a:avLst/>
          </a:prstGeom>
          <a:ln w="11430">
            <a:solidFill>
              <a:srgbClr val="00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8997696" y="5038344"/>
            <a:ext cx="2496312" cy="329184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25712" y="5084064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core_7 : Y_7[i]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296912" y="5532120"/>
            <a:ext cx="4187952" cy="365760"/>
          </a:xfrm>
          <a:prstGeom prst="roundRect">
            <a:avLst/>
          </a:prstGeom>
          <a:solidFill>
            <a:srgbClr val="EAF2F5"/>
          </a:solidFill>
          <a:ln w="1143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452360" y="5623560"/>
            <a:ext cx="38770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3855F"/>
                </a:solidFill>
                <a:latin typeface="Consolas"/>
              </a:rPr>
              <a:t>Y_j[i] ← X_i  ·  j ≠ i：7 次 remote_write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0" y="5952744"/>
            <a:ext cx="416052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B6F7D"/>
                </a:solidFill>
                <a:latin typeface="Microsoft YaHei"/>
              </a:rPr>
              <a:t>j=i 的 Y_i[i] 已在步骤 ③ 本地放置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11480" y="6272784"/>
            <a:ext cx="11365992" cy="356616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94360" y="636422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同步分工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90472" y="6364224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8C99"/>
                </a:solidFill>
                <a:latin typeface="Consolas"/>
              </a:rPr>
              <a:t>remote_write = 搬运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27832" y="6364224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6544C"/>
                </a:solidFill>
                <a:latin typeface="Consolas"/>
              </a:rPr>
              <a:t>fence core_i = 顺序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983480" y="6364224"/>
            <a:ext cx="23225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050A2"/>
                </a:solidFill>
                <a:latin typeface="Consolas"/>
              </a:rPr>
              <a:t>sync core_0~8 = 集合相遇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98079" y="6364224"/>
            <a:ext cx="22494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B6F7D"/>
                </a:solidFill>
                <a:latin typeface="Microsoft YaHei"/>
              </a:rPr>
              <a:t>8 核编号通常为 core_0…core_7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921240" y="6364224"/>
            <a:ext cx="16367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B76700"/>
                </a:solidFill>
                <a:latin typeface="Microsoft YaHei"/>
              </a:rPr>
              <a:t>每核 7C 发 + 7C 收；无 Reduce Engine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1480" y="6684264"/>
            <a:ext cx="713232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B6F7D"/>
                </a:solidFill>
                <a:latin typeface="Consolas"/>
              </a:rPr>
              <a:t>Remote-write AllGather  ·  Core_i perspective  ·  editable one-slide diagram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509760" y="6684264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B6F7D"/>
                </a:solidFill>
                <a:latin typeface="Consolas"/>
              </a:rPr>
              <a:t>X_i → Y_j[i]  ·  j ≠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核远程写入 AllGather：Core_i 单核执行流程</dc:title>
  <dc:subject>Top-down single-core remote-memory-write AllGather flowchart</dc:subject>
  <dc:creator>DeepSeek-V4 Flash repository</dc:creator>
  <cp:keywords/>
  <dc:description>Editable one-slide diagram showing the Core_i control flow, remote writes, fence, and eight-core synchronization.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