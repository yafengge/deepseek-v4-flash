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"/>
          </a:xfrm>
          <a:prstGeom prst="rect">
            <a:avLst/>
          </a:prstGeom>
          <a:solidFill>
            <a:srgbClr val="008C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47472" y="137160"/>
            <a:ext cx="7452360" cy="347472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100" b="0">
                <a:solidFill>
                  <a:srgbClr val="18323A"/>
                </a:solidFill>
                <a:latin typeface="Microsoft YaHei"/>
              </a:rPr>
              <a:t>DeepSeek V4 Flash · Operator Data Types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74904" y="539496"/>
            <a:ext cx="790956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90" b="0">
                <a:solidFill>
                  <a:srgbClr val="55717A"/>
                </a:solidFill>
                <a:latin typeface="Microsoft YaHei"/>
              </a:rPr>
              <a:t>算子设计总览：权重存储、量化 Scale、激活 / hidden state 与 TP 组织方式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577072" y="146304"/>
            <a:ext cx="3255264" cy="329184"/>
          </a:xfrm>
          <a:prstGeom prst="roundRect">
            <a:avLst/>
          </a:prstGeom>
          <a:solidFill>
            <a:srgbClr val="EDF5F6"/>
          </a:solidFill>
          <a:ln w="9525">
            <a:solidFill>
              <a:srgbClr val="008C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77656" y="173736"/>
            <a:ext cx="3054096" cy="2743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20" b="1">
                <a:solidFill>
                  <a:srgbClr val="008C99"/>
                </a:solidFill>
                <a:latin typeface="Consolas"/>
              </a:rPr>
              <a:t>linear/shared: FP8 E4M3 + UE8M0</a:t>
            </a:r>
            <a:br/>
            <a:r>
              <a:rPr sz="620" b="1">
                <a:solidFill>
                  <a:srgbClr val="008C99"/>
                </a:solidFill>
                <a:latin typeface="Consolas"/>
              </a:rPr>
              <a:t>routed: FP4 E2M1 + UE8M0 · state: BF16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7472" y="832104"/>
            <a:ext cx="11484864" cy="329184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A9C0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30352" y="914400"/>
            <a:ext cx="1874519" cy="155448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80" b="1">
                <a:solidFill>
                  <a:srgbClr val="2E72B6"/>
                </a:solidFill>
                <a:latin typeface="Consolas"/>
              </a:rPr>
              <a:t>FP8 E4M3  weight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496312" y="914400"/>
            <a:ext cx="2148840" cy="155448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80" b="1">
                <a:solidFill>
                  <a:srgbClr val="23855F"/>
                </a:solidFill>
                <a:latin typeface="Consolas"/>
              </a:rPr>
              <a:t>FP4 E2M1  routed expert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36592" y="914400"/>
            <a:ext cx="2423160" cy="155448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80" b="1">
                <a:solidFill>
                  <a:srgbClr val="B76700"/>
                </a:solidFill>
                <a:latin typeface="Consolas"/>
              </a:rPr>
              <a:t>UE8M0 / E8M0  Scale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251192" y="914400"/>
            <a:ext cx="2057400" cy="155448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80" b="1">
                <a:solidFill>
                  <a:srgbClr val="008C99"/>
                </a:solidFill>
                <a:latin typeface="Consolas"/>
              </a:rPr>
              <a:t>BF16  state / cache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400032" y="914400"/>
            <a:ext cx="1645920" cy="155448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80" b="1">
                <a:solidFill>
                  <a:srgbClr val="7050A2"/>
                </a:solidFill>
                <a:latin typeface="Consolas"/>
              </a:rPr>
              <a:t>FP32  compute</a:t>
            </a:r>
          </a:p>
        </p:txBody>
      </p:sp>
      <p:graphicFrame>
        <p:nvGraphicFramePr>
          <p:cNvPr id="13" name="Table 12"/>
          <p:cNvGraphicFramePr>
            <a:graphicFrameLocks noGrp="1"/>
          </p:cNvGraphicFramePr>
          <p:nvPr/>
        </p:nvGraphicFramePr>
        <p:xfrm>
          <a:off x="347472" y="1325880"/>
          <a:ext cx="11484863" cy="46817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48840"/>
                <a:gridCol w="2395728"/>
                <a:gridCol w="1874519"/>
                <a:gridCol w="2487168"/>
                <a:gridCol w="2578608"/>
              </a:tblGrid>
              <a:tr h="329184"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90" b="1">
                          <a:solidFill>
                            <a:srgbClr val="FFFFFF"/>
                          </a:solidFill>
                          <a:latin typeface="Arial"/>
                        </a:rPr>
                        <a:t>OPERATOR / TENSOR</a:t>
                      </a:r>
                    </a:p>
                  </a:txBody>
                  <a:tcPr marL="64008" marR="64008" marT="22860" marB="22860" anchor="ctr">
                    <a:solidFill>
                      <a:srgbClr val="365E69"/>
                    </a:solidFill>
                    <a:lnL w="8255" cap="flat" cmpd="sng" algn="ctr">
                      <a:solidFill>
                        <a:srgbClr val="A9C0C7"/>
                      </a:solidFill>
                      <a:prstDash val="solid"/>
                    </a:lnL>
                    <a:lnR w="8255" cap="flat" cmpd="sng" algn="ctr">
                      <a:solidFill>
                        <a:srgbClr val="A9C0C7"/>
                      </a:solidFill>
                      <a:prstDash val="solid"/>
                    </a:lnR>
                    <a:lnT w="8255" cap="flat" cmpd="sng" algn="ctr">
                      <a:solidFill>
                        <a:srgbClr val="A9C0C7"/>
                      </a:solidFill>
                      <a:prstDash val="solid"/>
                    </a:lnT>
                    <a:lnB w="8255" cap="flat" cmpd="sng" algn="ctr">
                      <a:solidFill>
                        <a:srgbClr val="A9C0C7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90" b="1">
                          <a:solidFill>
                            <a:srgbClr val="FFFFFF"/>
                          </a:solidFill>
                          <a:latin typeface="Arial"/>
                        </a:rPr>
                        <a:t>WEIGHT / STORAGE</a:t>
                      </a:r>
                    </a:p>
                  </a:txBody>
                  <a:tcPr marL="64008" marR="64008" marT="22860" marB="22860" anchor="ctr">
                    <a:solidFill>
                      <a:srgbClr val="365E69"/>
                    </a:solidFill>
                    <a:lnL w="8255" cap="flat" cmpd="sng" algn="ctr">
                      <a:solidFill>
                        <a:srgbClr val="A9C0C7"/>
                      </a:solidFill>
                      <a:prstDash val="solid"/>
                    </a:lnL>
                    <a:lnR w="8255" cap="flat" cmpd="sng" algn="ctr">
                      <a:solidFill>
                        <a:srgbClr val="A9C0C7"/>
                      </a:solidFill>
                      <a:prstDash val="solid"/>
                    </a:lnR>
                    <a:lnT w="8255" cap="flat" cmpd="sng" algn="ctr">
                      <a:solidFill>
                        <a:srgbClr val="A9C0C7"/>
                      </a:solidFill>
                      <a:prstDash val="solid"/>
                    </a:lnT>
                    <a:lnB w="8255" cap="flat" cmpd="sng" algn="ctr">
                      <a:solidFill>
                        <a:srgbClr val="A9C0C7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90" b="1">
                          <a:solidFill>
                            <a:srgbClr val="FFFFFF"/>
                          </a:solidFill>
                          <a:latin typeface="Arial"/>
                        </a:rPr>
                        <a:t>SCALE TYPE</a:t>
                      </a:r>
                    </a:p>
                  </a:txBody>
                  <a:tcPr marL="64008" marR="64008" marT="22860" marB="22860" anchor="ctr">
                    <a:solidFill>
                      <a:srgbClr val="365E69"/>
                    </a:solidFill>
                    <a:lnL w="8255" cap="flat" cmpd="sng" algn="ctr">
                      <a:solidFill>
                        <a:srgbClr val="A9C0C7"/>
                      </a:solidFill>
                      <a:prstDash val="solid"/>
                    </a:lnL>
                    <a:lnR w="8255" cap="flat" cmpd="sng" algn="ctr">
                      <a:solidFill>
                        <a:srgbClr val="A9C0C7"/>
                      </a:solidFill>
                      <a:prstDash val="solid"/>
                    </a:lnR>
                    <a:lnT w="8255" cap="flat" cmpd="sng" algn="ctr">
                      <a:solidFill>
                        <a:srgbClr val="A9C0C7"/>
                      </a:solidFill>
                      <a:prstDash val="solid"/>
                    </a:lnT>
                    <a:lnB w="8255" cap="flat" cmpd="sng" algn="ctr">
                      <a:solidFill>
                        <a:srgbClr val="A9C0C7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90" b="1">
                          <a:solidFill>
                            <a:srgbClr val="FFFFFF"/>
                          </a:solidFill>
                          <a:latin typeface="Arial"/>
                        </a:rPr>
                        <a:t>ACTIVATION / HIDDEN STATE</a:t>
                      </a:r>
                    </a:p>
                  </a:txBody>
                  <a:tcPr marL="64008" marR="64008" marT="22860" marB="22860" anchor="ctr">
                    <a:solidFill>
                      <a:srgbClr val="365E69"/>
                    </a:solidFill>
                    <a:lnL w="8255" cap="flat" cmpd="sng" algn="ctr">
                      <a:solidFill>
                        <a:srgbClr val="A9C0C7"/>
                      </a:solidFill>
                      <a:prstDash val="solid"/>
                    </a:lnL>
                    <a:lnR w="8255" cap="flat" cmpd="sng" algn="ctr">
                      <a:solidFill>
                        <a:srgbClr val="A9C0C7"/>
                      </a:solidFill>
                      <a:prstDash val="solid"/>
                    </a:lnR>
                    <a:lnT w="8255" cap="flat" cmpd="sng" algn="ctr">
                      <a:solidFill>
                        <a:srgbClr val="A9C0C7"/>
                      </a:solidFill>
                      <a:prstDash val="solid"/>
                    </a:lnT>
                    <a:lnB w="8255" cap="flat" cmpd="sng" algn="ctr">
                      <a:solidFill>
                        <a:srgbClr val="A9C0C7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90" b="1">
                          <a:solidFill>
                            <a:srgbClr val="FFFFFF"/>
                          </a:solidFill>
                          <a:latin typeface="Arial"/>
                        </a:rPr>
                        <a:t>DESIGN / PARALLELISM</a:t>
                      </a:r>
                    </a:p>
                  </a:txBody>
                  <a:tcPr marL="64008" marR="64008" marT="22860" marB="22860" anchor="ctr">
                    <a:solidFill>
                      <a:srgbClr val="365E69"/>
                    </a:solidFill>
                    <a:lnL w="8255" cap="flat" cmpd="sng" algn="ctr">
                      <a:solidFill>
                        <a:srgbClr val="A9C0C7"/>
                      </a:solidFill>
                      <a:prstDash val="solid"/>
                    </a:lnL>
                    <a:lnR w="8255" cap="flat" cmpd="sng" algn="ctr">
                      <a:solidFill>
                        <a:srgbClr val="A9C0C7"/>
                      </a:solidFill>
                      <a:prstDash val="solid"/>
                    </a:lnR>
                    <a:lnT w="8255" cap="flat" cmpd="sng" algn="ctr">
                      <a:solidFill>
                        <a:srgbClr val="A9C0C7"/>
                      </a:solidFill>
                      <a:prstDash val="solid"/>
                    </a:lnT>
                    <a:lnB w="8255" cap="flat" cmpd="sng" algn="ctr">
                      <a:solidFill>
                        <a:srgbClr val="A9C0C7"/>
                      </a:solidFill>
                      <a:prstDash val="solid"/>
                    </a:lnB>
                  </a:tcPr>
                </a:tc>
              </a:tr>
              <a:tr h="182880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80" b="1">
                          <a:solidFill>
                            <a:srgbClr val="008C99"/>
                          </a:solidFill>
                          <a:latin typeface="Arial"/>
                        </a:rPr>
                        <a:t>CORE STATE</a:t>
                      </a:r>
                    </a:p>
                  </a:txBody>
                  <a:tcPr marL="64008" marR="64008" marT="22860" marB="22860" anchor="ctr">
                    <a:solidFill>
                      <a:srgbClr val="EDF5F6"/>
                    </a:solidFill>
                    <a:lnL w="6985" cap="flat" cmpd="sng" algn="ctr">
                      <a:solidFill>
                        <a:srgbClr val="A9C0C7"/>
                      </a:solidFill>
                      <a:prstDash val="solid"/>
                    </a:lnL>
                    <a:lnR w="6985" cap="flat" cmpd="sng" algn="ctr">
                      <a:solidFill>
                        <a:srgbClr val="A9C0C7"/>
                      </a:solidFill>
                      <a:prstDash val="solid"/>
                    </a:lnR>
                    <a:lnT w="6985" cap="flat" cmpd="sng" algn="ctr">
                      <a:solidFill>
                        <a:srgbClr val="A9C0C7"/>
                      </a:solidFill>
                      <a:prstDash val="solid"/>
                    </a:lnT>
                    <a:lnB w="6985" cap="flat" cmpd="sng" algn="ctr">
                      <a:solidFill>
                        <a:srgbClr val="A9C0C7"/>
                      </a:solidFill>
                      <a:prstDash val="solid"/>
                    </a:lnB>
                  </a:tcPr>
                </a:tc>
                <a:tc gridSpan="4">
                  <a:txBody>
                    <a:bodyPr wrap="square"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10" b="0">
                          <a:solidFill>
                            <a:srgbClr val="55717A"/>
                          </a:solidFill>
                          <a:latin typeface="Microsoft YaHei"/>
                        </a:rPr>
                        <a:t>hidden state 是 BF16 主路径</a:t>
                      </a:r>
                    </a:p>
                  </a:txBody>
                  <a:tcPr marL="64008" marR="64008" marT="22860" marB="22860" anchor="ctr">
                    <a:solidFill>
                      <a:srgbClr val="EDF5F6"/>
                    </a:solidFill>
                    <a:lnL w="6985" cap="flat" cmpd="sng" algn="ctr">
                      <a:solidFill>
                        <a:srgbClr val="A9C0C7"/>
                      </a:solidFill>
                      <a:prstDash val="solid"/>
                    </a:lnL>
                    <a:lnR w="6985" cap="flat" cmpd="sng" algn="ctr">
                      <a:solidFill>
                        <a:srgbClr val="A9C0C7"/>
                      </a:solidFill>
                      <a:prstDash val="solid"/>
                    </a:lnR>
                    <a:lnT w="6985" cap="flat" cmpd="sng" algn="ctr">
                      <a:solidFill>
                        <a:srgbClr val="A9C0C7"/>
                      </a:solidFill>
                      <a:prstDash val="solid"/>
                    </a:lnT>
                    <a:lnB w="6985" cap="flat" cmpd="sng" algn="ctr">
                      <a:solidFill>
                        <a:srgbClr val="A9C0C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329184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55" b="1">
                          <a:solidFill>
                            <a:srgbClr val="18323A"/>
                          </a:solidFill>
                          <a:latin typeface="Microsoft YaHei"/>
                        </a:rPr>
                        <a:t>Hidden state / residual</a:t>
                      </a:r>
                    </a:p>
                  </a:txBody>
                  <a:tcPr marL="64008" marR="64008" marT="22860" marB="22860" anchor="ctr">
                    <a:solidFill>
                      <a:srgbClr val="FFFFFF"/>
                    </a:solidFill>
                    <a:lnL w="6985" cap="flat" cmpd="sng" algn="ctr">
                      <a:solidFill>
                        <a:srgbClr val="A9C0C7"/>
                      </a:solidFill>
                      <a:prstDash val="solid"/>
                    </a:lnL>
                    <a:lnR w="6985" cap="flat" cmpd="sng" algn="ctr">
                      <a:solidFill>
                        <a:srgbClr val="A9C0C7"/>
                      </a:solidFill>
                      <a:prstDash val="solid"/>
                    </a:lnR>
                    <a:lnT w="6985" cap="flat" cmpd="sng" algn="ctr">
                      <a:solidFill>
                        <a:srgbClr val="A9C0C7"/>
                      </a:solidFill>
                      <a:prstDash val="solid"/>
                    </a:lnT>
                    <a:lnB w="6985" cap="flat" cmpd="sng" algn="ctr">
                      <a:solidFill>
                        <a:srgbClr val="A9C0C7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20" b="0">
                          <a:solidFill>
                            <a:srgbClr val="18323A"/>
                          </a:solidFill>
                          <a:latin typeface="Microsoft YaHei"/>
                        </a:rPr>
                        <a:t>BF16 hidden</a:t>
                      </a:r>
                    </a:p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20" b="0">
                          <a:solidFill>
                            <a:srgbClr val="18323A"/>
                          </a:solidFill>
                          <a:latin typeface="Microsoft YaHei"/>
                        </a:rPr>
                        <a:t>BF16 residual</a:t>
                      </a:r>
                    </a:p>
                  </a:txBody>
                  <a:tcPr marL="64008" marR="64008" marT="22860" marB="22860" anchor="ctr">
                    <a:solidFill>
                      <a:srgbClr val="FFFFFF"/>
                    </a:solidFill>
                    <a:lnL w="6985" cap="flat" cmpd="sng" algn="ctr">
                      <a:solidFill>
                        <a:srgbClr val="A9C0C7"/>
                      </a:solidFill>
                      <a:prstDash val="solid"/>
                    </a:lnL>
                    <a:lnR w="6985" cap="flat" cmpd="sng" algn="ctr">
                      <a:solidFill>
                        <a:srgbClr val="A9C0C7"/>
                      </a:solidFill>
                      <a:prstDash val="solid"/>
                    </a:lnR>
                    <a:lnT w="6985" cap="flat" cmpd="sng" algn="ctr">
                      <a:solidFill>
                        <a:srgbClr val="A9C0C7"/>
                      </a:solidFill>
                      <a:prstDash val="solid"/>
                    </a:lnT>
                    <a:lnB w="6985" cap="flat" cmpd="sng" algn="ctr">
                      <a:solidFill>
                        <a:srgbClr val="A9C0C7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20" b="0">
                          <a:solidFill>
                            <a:srgbClr val="18323A"/>
                          </a:solidFill>
                          <a:latin typeface="Microsoft YaHei"/>
                        </a:rPr>
                        <a:t>N/A</a:t>
                      </a:r>
                    </a:p>
                  </a:txBody>
                  <a:tcPr marL="64008" marR="64008" marT="22860" marB="22860" anchor="ctr">
                    <a:solidFill>
                      <a:srgbClr val="FFFFFF"/>
                    </a:solidFill>
                    <a:lnL w="6985" cap="flat" cmpd="sng" algn="ctr">
                      <a:solidFill>
                        <a:srgbClr val="A9C0C7"/>
                      </a:solidFill>
                      <a:prstDash val="solid"/>
                    </a:lnL>
                    <a:lnR w="6985" cap="flat" cmpd="sng" algn="ctr">
                      <a:solidFill>
                        <a:srgbClr val="A9C0C7"/>
                      </a:solidFill>
                      <a:prstDash val="solid"/>
                    </a:lnR>
                    <a:lnT w="6985" cap="flat" cmpd="sng" algn="ctr">
                      <a:solidFill>
                        <a:srgbClr val="A9C0C7"/>
                      </a:solidFill>
                      <a:prstDash val="solid"/>
                    </a:lnT>
                    <a:lnB w="6985" cap="flat" cmpd="sng" algn="ctr">
                      <a:solidFill>
                        <a:srgbClr val="A9C0C7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20" b="0">
                          <a:solidFill>
                            <a:srgbClr val="18323A"/>
                          </a:solidFill>
                          <a:latin typeface="Microsoft YaHei"/>
                        </a:rPr>
                        <a:t>BF16 state tensors;</a:t>
                      </a:r>
                    </a:p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20" b="0">
                          <a:solidFill>
                            <a:srgbClr val="18323A"/>
                          </a:solidFill>
                          <a:latin typeface="Microsoft YaHei"/>
                        </a:rPr>
                        <a:t>FP32 HC mixing when enabled</a:t>
                      </a:r>
                    </a:p>
                  </a:txBody>
                  <a:tcPr marL="64008" marR="64008" marT="22860" marB="22860" anchor="ctr">
                    <a:solidFill>
                      <a:srgbClr val="FFFFFF"/>
                    </a:solidFill>
                    <a:lnL w="6985" cap="flat" cmpd="sng" algn="ctr">
                      <a:solidFill>
                        <a:srgbClr val="A9C0C7"/>
                      </a:solidFill>
                      <a:prstDash val="solid"/>
                    </a:lnL>
                    <a:lnR w="6985" cap="flat" cmpd="sng" algn="ctr">
                      <a:solidFill>
                        <a:srgbClr val="A9C0C7"/>
                      </a:solidFill>
                      <a:prstDash val="solid"/>
                    </a:lnR>
                    <a:lnT w="6985" cap="flat" cmpd="sng" algn="ctr">
                      <a:solidFill>
                        <a:srgbClr val="A9C0C7"/>
                      </a:solidFill>
                      <a:prstDash val="solid"/>
                    </a:lnT>
                    <a:lnB w="6985" cap="flat" cmpd="sng" algn="ctr">
                      <a:solidFill>
                        <a:srgbClr val="A9C0C7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20" b="0">
                          <a:solidFill>
                            <a:srgbClr val="18323A"/>
                          </a:solidFill>
                          <a:latin typeface="Microsoft YaHei"/>
                        </a:rPr>
                        <a:t>完整 [B,S,D] 视图；mHC streams</a:t>
                      </a:r>
                    </a:p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20" b="0">
                          <a:solidFill>
                            <a:srgbClr val="18323A"/>
                          </a:solidFill>
                          <a:latin typeface="Microsoft YaHei"/>
                        </a:rPr>
                        <a:t>在 rank 内复制，不切 TP</a:t>
                      </a:r>
                    </a:p>
                  </a:txBody>
                  <a:tcPr marL="64008" marR="64008" marT="22860" marB="22860" anchor="ctr">
                    <a:solidFill>
                      <a:srgbClr val="FFFFFF"/>
                    </a:solidFill>
                    <a:lnL w="6985" cap="flat" cmpd="sng" algn="ctr">
                      <a:solidFill>
                        <a:srgbClr val="A9C0C7"/>
                      </a:solidFill>
                      <a:prstDash val="solid"/>
                    </a:lnL>
                    <a:lnR w="6985" cap="flat" cmpd="sng" algn="ctr">
                      <a:solidFill>
                        <a:srgbClr val="A9C0C7"/>
                      </a:solidFill>
                      <a:prstDash val="solid"/>
                    </a:lnR>
                    <a:lnT w="6985" cap="flat" cmpd="sng" algn="ctr">
                      <a:solidFill>
                        <a:srgbClr val="A9C0C7"/>
                      </a:solidFill>
                      <a:prstDash val="solid"/>
                    </a:lnT>
                    <a:lnB w="6985" cap="flat" cmpd="sng" algn="ctr">
                      <a:solidFill>
                        <a:srgbClr val="A9C0C7"/>
                      </a:solidFill>
                      <a:prstDash val="solid"/>
                    </a:lnB>
                  </a:tcPr>
                </a:tc>
              </a:tr>
              <a:tr h="182880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80" b="1">
                          <a:solidFill>
                            <a:srgbClr val="2E72B6"/>
                          </a:solidFill>
                          <a:latin typeface="Arial"/>
                        </a:rPr>
                        <a:t>ATTENTION</a:t>
                      </a:r>
                    </a:p>
                  </a:txBody>
                  <a:tcPr marL="64008" marR="64008" marT="22860" marB="22860" anchor="ctr">
                    <a:solidFill>
                      <a:srgbClr val="EDF5F6"/>
                    </a:solidFill>
                    <a:lnL w="6985" cap="flat" cmpd="sng" algn="ctr">
                      <a:solidFill>
                        <a:srgbClr val="A9C0C7"/>
                      </a:solidFill>
                      <a:prstDash val="solid"/>
                    </a:lnL>
                    <a:lnR w="6985" cap="flat" cmpd="sng" algn="ctr">
                      <a:solidFill>
                        <a:srgbClr val="A9C0C7"/>
                      </a:solidFill>
                      <a:prstDash val="solid"/>
                    </a:lnR>
                    <a:lnT w="6985" cap="flat" cmpd="sng" algn="ctr">
                      <a:solidFill>
                        <a:srgbClr val="A9C0C7"/>
                      </a:solidFill>
                      <a:prstDash val="solid"/>
                    </a:lnT>
                    <a:lnB w="6985" cap="flat" cmpd="sng" algn="ctr">
                      <a:solidFill>
                        <a:srgbClr val="A9C0C7"/>
                      </a:solidFill>
                      <a:prstDash val="solid"/>
                    </a:lnB>
                  </a:tcPr>
                </a:tc>
                <a:tc gridSpan="4">
                  <a:txBody>
                    <a:bodyPr wrap="square"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10" b="0">
                          <a:solidFill>
                            <a:srgbClr val="55717A"/>
                          </a:solidFill>
                          <a:latin typeface="Microsoft YaHei"/>
                        </a:rPr>
                        <a:t>主投影、KV、Indexer 与 Compressor</a:t>
                      </a:r>
                    </a:p>
                  </a:txBody>
                  <a:tcPr marL="64008" marR="64008" marT="22860" marB="22860" anchor="ctr">
                    <a:solidFill>
                      <a:srgbClr val="EDF5F6"/>
                    </a:solidFill>
                    <a:lnL w="6985" cap="flat" cmpd="sng" algn="ctr">
                      <a:solidFill>
                        <a:srgbClr val="A9C0C7"/>
                      </a:solidFill>
                      <a:prstDash val="solid"/>
                    </a:lnL>
                    <a:lnR w="6985" cap="flat" cmpd="sng" algn="ctr">
                      <a:solidFill>
                        <a:srgbClr val="A9C0C7"/>
                      </a:solidFill>
                      <a:prstDash val="solid"/>
                    </a:lnR>
                    <a:lnT w="6985" cap="flat" cmpd="sng" algn="ctr">
                      <a:solidFill>
                        <a:srgbClr val="A9C0C7"/>
                      </a:solidFill>
                      <a:prstDash val="solid"/>
                    </a:lnT>
                    <a:lnB w="6985" cap="flat" cmpd="sng" algn="ctr">
                      <a:solidFill>
                        <a:srgbClr val="A9C0C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329184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55" b="1">
                          <a:solidFill>
                            <a:srgbClr val="18323A"/>
                          </a:solidFill>
                          <a:latin typeface="Microsoft YaHei"/>
                        </a:rPr>
                        <a:t>Main projections</a:t>
                      </a:r>
                    </a:p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55" b="1">
                          <a:solidFill>
                            <a:srgbClr val="18323A"/>
                          </a:solidFill>
                          <a:latin typeface="Microsoft YaHei"/>
                        </a:rPr>
                        <a:t>wq_a / wq_b / wkv / wo_b</a:t>
                      </a:r>
                    </a:p>
                  </a:txBody>
                  <a:tcPr marL="64008" marR="64008" marT="22860" marB="22860" anchor="ctr">
                    <a:solidFill>
                      <a:srgbClr val="EDF5F6"/>
                    </a:solidFill>
                    <a:lnL w="6985" cap="flat" cmpd="sng" algn="ctr">
                      <a:solidFill>
                        <a:srgbClr val="A9C0C7"/>
                      </a:solidFill>
                      <a:prstDash val="solid"/>
                    </a:lnL>
                    <a:lnR w="6985" cap="flat" cmpd="sng" algn="ctr">
                      <a:solidFill>
                        <a:srgbClr val="A9C0C7"/>
                      </a:solidFill>
                      <a:prstDash val="solid"/>
                    </a:lnR>
                    <a:lnT w="6985" cap="flat" cmpd="sng" algn="ctr">
                      <a:solidFill>
                        <a:srgbClr val="A9C0C7"/>
                      </a:solidFill>
                      <a:prstDash val="solid"/>
                    </a:lnT>
                    <a:lnB w="6985" cap="flat" cmpd="sng" algn="ctr">
                      <a:solidFill>
                        <a:srgbClr val="A9C0C7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20" b="0">
                          <a:solidFill>
                            <a:srgbClr val="18323A"/>
                          </a:solidFill>
                          <a:latin typeface="Microsoft YaHei"/>
                        </a:rPr>
                        <a:t>FP8 E4M3</a:t>
                      </a:r>
                    </a:p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20" b="0">
                          <a:solidFill>
                            <a:srgbClr val="18323A"/>
                          </a:solidFill>
                          <a:latin typeface="Microsoft YaHei"/>
                        </a:rPr>
                        <a:t>weights</a:t>
                      </a:r>
                    </a:p>
                  </a:txBody>
                  <a:tcPr marL="64008" marR="64008" marT="22860" marB="22860" anchor="ctr">
                    <a:solidFill>
                      <a:srgbClr val="EDF5F6"/>
                    </a:solidFill>
                    <a:lnL w="6985" cap="flat" cmpd="sng" algn="ctr">
                      <a:solidFill>
                        <a:srgbClr val="A9C0C7"/>
                      </a:solidFill>
                      <a:prstDash val="solid"/>
                    </a:lnL>
                    <a:lnR w="6985" cap="flat" cmpd="sng" algn="ctr">
                      <a:solidFill>
                        <a:srgbClr val="A9C0C7"/>
                      </a:solidFill>
                      <a:prstDash val="solid"/>
                    </a:lnR>
                    <a:lnT w="6985" cap="flat" cmpd="sng" algn="ctr">
                      <a:solidFill>
                        <a:srgbClr val="A9C0C7"/>
                      </a:solidFill>
                      <a:prstDash val="solid"/>
                    </a:lnT>
                    <a:lnB w="6985" cap="flat" cmpd="sng" algn="ctr">
                      <a:solidFill>
                        <a:srgbClr val="A9C0C7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20" b="0">
                          <a:solidFill>
                            <a:srgbClr val="18323A"/>
                          </a:solidFill>
                          <a:latin typeface="Microsoft YaHei"/>
                        </a:rPr>
                        <a:t>UE8M0 (E8M0)</a:t>
                      </a:r>
                    </a:p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20" b="0">
                          <a:solidFill>
                            <a:srgbClr val="18323A"/>
                          </a:solidFill>
                          <a:latin typeface="Microsoft YaHei"/>
                        </a:rPr>
                        <a:t>unsigned exponent-only</a:t>
                      </a:r>
                    </a:p>
                  </a:txBody>
                  <a:tcPr marL="64008" marR="64008" marT="22860" marB="22860" anchor="ctr">
                    <a:solidFill>
                      <a:srgbClr val="EDF5F6"/>
                    </a:solidFill>
                    <a:lnL w="6985" cap="flat" cmpd="sng" algn="ctr">
                      <a:solidFill>
                        <a:srgbClr val="A9C0C7"/>
                      </a:solidFill>
                      <a:prstDash val="solid"/>
                    </a:lnL>
                    <a:lnR w="6985" cap="flat" cmpd="sng" algn="ctr">
                      <a:solidFill>
                        <a:srgbClr val="A9C0C7"/>
                      </a:solidFill>
                      <a:prstDash val="solid"/>
                    </a:lnR>
                    <a:lnT w="6985" cap="flat" cmpd="sng" algn="ctr">
                      <a:solidFill>
                        <a:srgbClr val="A9C0C7"/>
                      </a:solidFill>
                      <a:prstDash val="solid"/>
                    </a:lnT>
                    <a:lnB w="6985" cap="flat" cmpd="sng" algn="ctr">
                      <a:solidFill>
                        <a:srgbClr val="A9C0C7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20" b="0">
                          <a:solidFill>
                            <a:srgbClr val="18323A"/>
                          </a:solidFill>
                          <a:latin typeface="Microsoft YaHei"/>
                        </a:rPr>
                        <a:t>FP8 GEMM; BF16 input</a:t>
                      </a:r>
                    </a:p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20" b="0">
                          <a:solidFill>
                            <a:srgbClr val="18323A"/>
                          </a:solidFill>
                          <a:latin typeface="Microsoft YaHei"/>
                        </a:rPr>
                        <a:t>dynamically quantized</a:t>
                      </a:r>
                    </a:p>
                  </a:txBody>
                  <a:tcPr marL="64008" marR="64008" marT="22860" marB="22860" anchor="ctr">
                    <a:solidFill>
                      <a:srgbClr val="EDF5F6"/>
                    </a:solidFill>
                    <a:lnL w="6985" cap="flat" cmpd="sng" algn="ctr">
                      <a:solidFill>
                        <a:srgbClr val="A9C0C7"/>
                      </a:solidFill>
                      <a:prstDash val="solid"/>
                    </a:lnL>
                    <a:lnR w="6985" cap="flat" cmpd="sng" algn="ctr">
                      <a:solidFill>
                        <a:srgbClr val="A9C0C7"/>
                      </a:solidFill>
                      <a:prstDash val="solid"/>
                    </a:lnR>
                    <a:lnT w="6985" cap="flat" cmpd="sng" algn="ctr">
                      <a:solidFill>
                        <a:srgbClr val="A9C0C7"/>
                      </a:solidFill>
                      <a:prstDash val="solid"/>
                    </a:lnT>
                    <a:lnB w="6985" cap="flat" cmpd="sng" algn="ctr">
                      <a:solidFill>
                        <a:srgbClr val="A9C0C7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20" b="0">
                          <a:solidFill>
                            <a:srgbClr val="18323A"/>
                          </a:solidFill>
                          <a:latin typeface="Microsoft YaHei"/>
                        </a:rPr>
                        <a:t>wq_a / wkv replicate;</a:t>
                      </a:r>
                    </a:p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20" b="0">
                          <a:solidFill>
                            <a:srgbClr val="18323A"/>
                          </a:solidFill>
                          <a:latin typeface="Microsoft YaHei"/>
                        </a:rPr>
                        <a:t>Q heads 与 O groups 按 TP 切分</a:t>
                      </a:r>
                    </a:p>
                  </a:txBody>
                  <a:tcPr marL="64008" marR="64008" marT="22860" marB="22860" anchor="ctr">
                    <a:solidFill>
                      <a:srgbClr val="EDF5F6"/>
                    </a:solidFill>
                    <a:lnL w="6985" cap="flat" cmpd="sng" algn="ctr">
                      <a:solidFill>
                        <a:srgbClr val="A9C0C7"/>
                      </a:solidFill>
                      <a:prstDash val="solid"/>
                    </a:lnL>
                    <a:lnR w="6985" cap="flat" cmpd="sng" algn="ctr">
                      <a:solidFill>
                        <a:srgbClr val="A9C0C7"/>
                      </a:solidFill>
                      <a:prstDash val="solid"/>
                    </a:lnR>
                    <a:lnT w="6985" cap="flat" cmpd="sng" algn="ctr">
                      <a:solidFill>
                        <a:srgbClr val="A9C0C7"/>
                      </a:solidFill>
                      <a:prstDash val="solid"/>
                    </a:lnT>
                    <a:lnB w="6985" cap="flat" cmpd="sng" algn="ctr">
                      <a:solidFill>
                        <a:srgbClr val="A9C0C7"/>
                      </a:solidFill>
                      <a:prstDash val="solid"/>
                    </a:lnB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55" b="1">
                          <a:solidFill>
                            <a:srgbClr val="18323A"/>
                          </a:solidFill>
                          <a:latin typeface="Microsoft YaHei"/>
                        </a:rPr>
                        <a:t>Output projection</a:t>
                      </a:r>
                    </a:p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55" b="1">
                          <a:solidFill>
                            <a:srgbClr val="18323A"/>
                          </a:solidFill>
                          <a:latin typeface="Microsoft YaHei"/>
                        </a:rPr>
                        <a:t>wo_a</a:t>
                      </a:r>
                    </a:p>
                  </a:txBody>
                  <a:tcPr marL="64008" marR="64008" marT="22860" marB="22860" anchor="ctr">
                    <a:solidFill>
                      <a:srgbClr val="FFFFFF"/>
                    </a:solidFill>
                    <a:lnL w="6985" cap="flat" cmpd="sng" algn="ctr">
                      <a:solidFill>
                        <a:srgbClr val="A9C0C7"/>
                      </a:solidFill>
                      <a:prstDash val="solid"/>
                    </a:lnL>
                    <a:lnR w="6985" cap="flat" cmpd="sng" algn="ctr">
                      <a:solidFill>
                        <a:srgbClr val="A9C0C7"/>
                      </a:solidFill>
                      <a:prstDash val="solid"/>
                    </a:lnR>
                    <a:lnT w="6985" cap="flat" cmpd="sng" algn="ctr">
                      <a:solidFill>
                        <a:srgbClr val="A9C0C7"/>
                      </a:solidFill>
                      <a:prstDash val="solid"/>
                    </a:lnT>
                    <a:lnB w="6985" cap="flat" cmpd="sng" algn="ctr">
                      <a:solidFill>
                        <a:srgbClr val="A9C0C7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20" b="0">
                          <a:solidFill>
                            <a:srgbClr val="18323A"/>
                          </a:solidFill>
                          <a:latin typeface="Microsoft YaHei"/>
                        </a:rPr>
                        <a:t>BF16 inference</a:t>
                      </a:r>
                    </a:p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20" b="0">
                          <a:solidFill>
                            <a:srgbClr val="18323A"/>
                          </a:solidFill>
                          <a:latin typeface="Microsoft YaHei"/>
                        </a:rPr>
                        <a:t>weights</a:t>
                      </a:r>
                    </a:p>
                  </a:txBody>
                  <a:tcPr marL="64008" marR="64008" marT="22860" marB="22860" anchor="ctr">
                    <a:solidFill>
                      <a:srgbClr val="FFFFFF"/>
                    </a:solidFill>
                    <a:lnL w="6985" cap="flat" cmpd="sng" algn="ctr">
                      <a:solidFill>
                        <a:srgbClr val="A9C0C7"/>
                      </a:solidFill>
                      <a:prstDash val="solid"/>
                    </a:lnL>
                    <a:lnR w="6985" cap="flat" cmpd="sng" algn="ctr">
                      <a:solidFill>
                        <a:srgbClr val="A9C0C7"/>
                      </a:solidFill>
                      <a:prstDash val="solid"/>
                    </a:lnR>
                    <a:lnT w="6985" cap="flat" cmpd="sng" algn="ctr">
                      <a:solidFill>
                        <a:srgbClr val="A9C0C7"/>
                      </a:solidFill>
                      <a:prstDash val="solid"/>
                    </a:lnT>
                    <a:lnB w="6985" cap="flat" cmpd="sng" algn="ctr">
                      <a:solidFill>
                        <a:srgbClr val="A9C0C7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20" b="0">
                          <a:solidFill>
                            <a:srgbClr val="18323A"/>
                          </a:solidFill>
                          <a:latin typeface="Microsoft YaHei"/>
                        </a:rPr>
                        <a:t>N/A</a:t>
                      </a:r>
                    </a:p>
                  </a:txBody>
                  <a:tcPr marL="64008" marR="64008" marT="22860" marB="22860" anchor="ctr">
                    <a:solidFill>
                      <a:srgbClr val="FFFFFF"/>
                    </a:solidFill>
                    <a:lnL w="6985" cap="flat" cmpd="sng" algn="ctr">
                      <a:solidFill>
                        <a:srgbClr val="A9C0C7"/>
                      </a:solidFill>
                      <a:prstDash val="solid"/>
                    </a:lnL>
                    <a:lnR w="6985" cap="flat" cmpd="sng" algn="ctr">
                      <a:solidFill>
                        <a:srgbClr val="A9C0C7"/>
                      </a:solidFill>
                      <a:prstDash val="solid"/>
                    </a:lnR>
                    <a:lnT w="6985" cap="flat" cmpd="sng" algn="ctr">
                      <a:solidFill>
                        <a:srgbClr val="A9C0C7"/>
                      </a:solidFill>
                      <a:prstDash val="solid"/>
                    </a:lnT>
                    <a:lnB w="6985" cap="flat" cmpd="sng" algn="ctr">
                      <a:solidFill>
                        <a:srgbClr val="A9C0C7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20" b="0">
                          <a:solidFill>
                            <a:srgbClr val="18323A"/>
                          </a:solidFill>
                          <a:latin typeface="Microsoft YaHei"/>
                        </a:rPr>
                        <a:t>BF16 tensor product</a:t>
                      </a:r>
                    </a:p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20" b="0">
                          <a:solidFill>
                            <a:srgbClr val="18323A"/>
                          </a:solidFill>
                          <a:latin typeface="Microsoft YaHei"/>
                        </a:rPr>
                        <a:t>(einsum)</a:t>
                      </a:r>
                    </a:p>
                  </a:txBody>
                  <a:tcPr marL="64008" marR="64008" marT="22860" marB="22860" anchor="ctr">
                    <a:solidFill>
                      <a:srgbClr val="FFFFFF"/>
                    </a:solidFill>
                    <a:lnL w="6985" cap="flat" cmpd="sng" algn="ctr">
                      <a:solidFill>
                        <a:srgbClr val="A9C0C7"/>
                      </a:solidFill>
                      <a:prstDash val="solid"/>
                    </a:lnL>
                    <a:lnR w="6985" cap="flat" cmpd="sng" algn="ctr">
                      <a:solidFill>
                        <a:srgbClr val="A9C0C7"/>
                      </a:solidFill>
                      <a:prstDash val="solid"/>
                    </a:lnR>
                    <a:lnT w="6985" cap="flat" cmpd="sng" algn="ctr">
                      <a:solidFill>
                        <a:srgbClr val="A9C0C7"/>
                      </a:solidFill>
                      <a:prstDash val="solid"/>
                    </a:lnT>
                    <a:lnB w="6985" cap="flat" cmpd="sng" algn="ctr">
                      <a:solidFill>
                        <a:srgbClr val="A9C0C7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20" b="0">
                          <a:solidFill>
                            <a:srgbClr val="18323A"/>
                          </a:solidFill>
                          <a:latin typeface="Microsoft YaHei"/>
                        </a:rPr>
                        <a:t>checkpoint FP8 tensor 在推理实现中</a:t>
                      </a:r>
                    </a:p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20" b="0">
                          <a:solidFill>
                            <a:srgbClr val="18323A"/>
                          </a:solidFill>
                          <a:latin typeface="Microsoft YaHei"/>
                        </a:rPr>
                        <a:t>转换并按 BF16 使用</a:t>
                      </a:r>
                    </a:p>
                  </a:txBody>
                  <a:tcPr marL="64008" marR="64008" marT="22860" marB="22860" anchor="ctr">
                    <a:solidFill>
                      <a:srgbClr val="FFFFFF"/>
                    </a:solidFill>
                    <a:lnL w="6985" cap="flat" cmpd="sng" algn="ctr">
                      <a:solidFill>
                        <a:srgbClr val="A9C0C7"/>
                      </a:solidFill>
                      <a:prstDash val="solid"/>
                    </a:lnL>
                    <a:lnR w="6985" cap="flat" cmpd="sng" algn="ctr">
                      <a:solidFill>
                        <a:srgbClr val="A9C0C7"/>
                      </a:solidFill>
                      <a:prstDash val="solid"/>
                    </a:lnR>
                    <a:lnT w="6985" cap="flat" cmpd="sng" algn="ctr">
                      <a:solidFill>
                        <a:srgbClr val="A9C0C7"/>
                      </a:solidFill>
                      <a:prstDash val="solid"/>
                    </a:lnT>
                    <a:lnB w="6985" cap="flat" cmpd="sng" algn="ctr">
                      <a:solidFill>
                        <a:srgbClr val="A9C0C7"/>
                      </a:solidFill>
                      <a:prstDash val="solid"/>
                    </a:lnB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55" b="1">
                          <a:solidFill>
                            <a:srgbClr val="18323A"/>
                          </a:solidFill>
                          <a:latin typeface="Microsoft YaHei"/>
                        </a:rPr>
                        <a:t>Main KV cache</a:t>
                      </a:r>
                    </a:p>
                  </a:txBody>
                  <a:tcPr marL="64008" marR="64008" marT="22860" marB="22860" anchor="ctr">
                    <a:solidFill>
                      <a:srgbClr val="EDF5F6"/>
                    </a:solidFill>
                    <a:lnL w="6985" cap="flat" cmpd="sng" algn="ctr">
                      <a:solidFill>
                        <a:srgbClr val="A9C0C7"/>
                      </a:solidFill>
                      <a:prstDash val="solid"/>
                    </a:lnL>
                    <a:lnR w="6985" cap="flat" cmpd="sng" algn="ctr">
                      <a:solidFill>
                        <a:srgbClr val="A9C0C7"/>
                      </a:solidFill>
                      <a:prstDash val="solid"/>
                    </a:lnR>
                    <a:lnT w="6985" cap="flat" cmpd="sng" algn="ctr">
                      <a:solidFill>
                        <a:srgbClr val="A9C0C7"/>
                      </a:solidFill>
                      <a:prstDash val="solid"/>
                    </a:lnT>
                    <a:lnB w="6985" cap="flat" cmpd="sng" algn="ctr">
                      <a:solidFill>
                        <a:srgbClr val="A9C0C7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20" b="0">
                          <a:solidFill>
                            <a:srgbClr val="18323A"/>
                          </a:solidFill>
                          <a:latin typeface="Microsoft YaHei"/>
                        </a:rPr>
                        <a:t>BF16 unquantized</a:t>
                      </a:r>
                    </a:p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20" b="0">
                          <a:solidFill>
                            <a:srgbClr val="18323A"/>
                          </a:solidFill>
                          <a:latin typeface="Microsoft YaHei"/>
                        </a:rPr>
                        <a:t>cache entries</a:t>
                      </a:r>
                    </a:p>
                  </a:txBody>
                  <a:tcPr marL="64008" marR="64008" marT="22860" marB="22860" anchor="ctr">
                    <a:solidFill>
                      <a:srgbClr val="EDF5F6"/>
                    </a:solidFill>
                    <a:lnL w="6985" cap="flat" cmpd="sng" algn="ctr">
                      <a:solidFill>
                        <a:srgbClr val="A9C0C7"/>
                      </a:solidFill>
                      <a:prstDash val="solid"/>
                    </a:lnL>
                    <a:lnR w="6985" cap="flat" cmpd="sng" algn="ctr">
                      <a:solidFill>
                        <a:srgbClr val="A9C0C7"/>
                      </a:solidFill>
                      <a:prstDash val="solid"/>
                    </a:lnR>
                    <a:lnT w="6985" cap="flat" cmpd="sng" algn="ctr">
                      <a:solidFill>
                        <a:srgbClr val="A9C0C7"/>
                      </a:solidFill>
                      <a:prstDash val="solid"/>
                    </a:lnT>
                    <a:lnB w="6985" cap="flat" cmpd="sng" algn="ctr">
                      <a:solidFill>
                        <a:srgbClr val="A9C0C7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20" b="0">
                          <a:solidFill>
                            <a:srgbClr val="18323A"/>
                          </a:solidFill>
                          <a:latin typeface="Microsoft YaHei"/>
                        </a:rPr>
                        <a:t>N/A</a:t>
                      </a:r>
                    </a:p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20" b="0">
                          <a:solidFill>
                            <a:srgbClr val="18323A"/>
                          </a:solidFill>
                          <a:latin typeface="Microsoft YaHei"/>
                        </a:rPr>
                        <a:t>(unquantized cache)</a:t>
                      </a:r>
                    </a:p>
                  </a:txBody>
                  <a:tcPr marL="64008" marR="64008" marT="22860" marB="22860" anchor="ctr">
                    <a:solidFill>
                      <a:srgbClr val="EDF5F6"/>
                    </a:solidFill>
                    <a:lnL w="6985" cap="flat" cmpd="sng" algn="ctr">
                      <a:solidFill>
                        <a:srgbClr val="A9C0C7"/>
                      </a:solidFill>
                      <a:prstDash val="solid"/>
                    </a:lnL>
                    <a:lnR w="6985" cap="flat" cmpd="sng" algn="ctr">
                      <a:solidFill>
                        <a:srgbClr val="A9C0C7"/>
                      </a:solidFill>
                      <a:prstDash val="solid"/>
                    </a:lnR>
                    <a:lnT w="6985" cap="flat" cmpd="sng" algn="ctr">
                      <a:solidFill>
                        <a:srgbClr val="A9C0C7"/>
                      </a:solidFill>
                      <a:prstDash val="solid"/>
                    </a:lnT>
                    <a:lnB w="6985" cap="flat" cmpd="sng" algn="ctr">
                      <a:solidFill>
                        <a:srgbClr val="A9C0C7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20" b="0">
                          <a:solidFill>
                            <a:srgbClr val="18323A"/>
                          </a:solidFill>
                          <a:latin typeface="Microsoft YaHei"/>
                        </a:rPr>
                        <a:t>BF16 cache</a:t>
                      </a:r>
                    </a:p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20" b="0">
                          <a:solidFill>
                            <a:srgbClr val="18323A"/>
                          </a:solidFill>
                          <a:latin typeface="Microsoft YaHei"/>
                        </a:rPr>
                        <a:t>raw + compressed entries</a:t>
                      </a:r>
                    </a:p>
                  </a:txBody>
                  <a:tcPr marL="64008" marR="64008" marT="22860" marB="22860" anchor="ctr">
                    <a:solidFill>
                      <a:srgbClr val="EDF5F6"/>
                    </a:solidFill>
                    <a:lnL w="6985" cap="flat" cmpd="sng" algn="ctr">
                      <a:solidFill>
                        <a:srgbClr val="A9C0C7"/>
                      </a:solidFill>
                      <a:prstDash val="solid"/>
                    </a:lnL>
                    <a:lnR w="6985" cap="flat" cmpd="sng" algn="ctr">
                      <a:solidFill>
                        <a:srgbClr val="A9C0C7"/>
                      </a:solidFill>
                      <a:prstDash val="solid"/>
                    </a:lnR>
                    <a:lnT w="6985" cap="flat" cmpd="sng" algn="ctr">
                      <a:solidFill>
                        <a:srgbClr val="A9C0C7"/>
                      </a:solidFill>
                      <a:prstDash val="solid"/>
                    </a:lnT>
                    <a:lnB w="6985" cap="flat" cmpd="sng" algn="ctr">
                      <a:solidFill>
                        <a:srgbClr val="A9C0C7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20" b="0">
                          <a:solidFill>
                            <a:srgbClr val="18323A"/>
                          </a:solidFill>
                          <a:latin typeface="Microsoft YaHei"/>
                        </a:rPr>
                        <a:t>window / ratio-4 / ratio-128</a:t>
                      </a:r>
                    </a:p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20" b="0">
                          <a:solidFill>
                            <a:srgbClr val="18323A"/>
                          </a:solidFill>
                          <a:latin typeface="Microsoft YaHei"/>
                        </a:rPr>
                        <a:t>KV 在每个 TP Rank 复制</a:t>
                      </a:r>
                    </a:p>
                  </a:txBody>
                  <a:tcPr marL="64008" marR="64008" marT="22860" marB="22860" anchor="ctr">
                    <a:solidFill>
                      <a:srgbClr val="EDF5F6"/>
                    </a:solidFill>
                    <a:lnL w="6985" cap="flat" cmpd="sng" algn="ctr">
                      <a:solidFill>
                        <a:srgbClr val="A9C0C7"/>
                      </a:solidFill>
                      <a:prstDash val="solid"/>
                    </a:lnL>
                    <a:lnR w="6985" cap="flat" cmpd="sng" algn="ctr">
                      <a:solidFill>
                        <a:srgbClr val="A9C0C7"/>
                      </a:solidFill>
                      <a:prstDash val="solid"/>
                    </a:lnR>
                    <a:lnT w="6985" cap="flat" cmpd="sng" algn="ctr">
                      <a:solidFill>
                        <a:srgbClr val="A9C0C7"/>
                      </a:solidFill>
                      <a:prstDash val="solid"/>
                    </a:lnT>
                    <a:lnB w="6985" cap="flat" cmpd="sng" algn="ctr">
                      <a:solidFill>
                        <a:srgbClr val="A9C0C7"/>
                      </a:solidFill>
                      <a:prstDash val="solid"/>
                    </a:lnB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55" b="1">
                          <a:solidFill>
                            <a:srgbClr val="18323A"/>
                          </a:solidFill>
                          <a:latin typeface="Microsoft YaHei"/>
                        </a:rPr>
                        <a:t>Indexer KV + projections</a:t>
                      </a:r>
                    </a:p>
                  </a:txBody>
                  <a:tcPr marL="64008" marR="64008" marT="22860" marB="22860" anchor="ctr">
                    <a:solidFill>
                      <a:srgbClr val="FFFFFF"/>
                    </a:solidFill>
                    <a:lnL w="6985" cap="flat" cmpd="sng" algn="ctr">
                      <a:solidFill>
                        <a:srgbClr val="A9C0C7"/>
                      </a:solidFill>
                      <a:prstDash val="solid"/>
                    </a:lnL>
                    <a:lnR w="6985" cap="flat" cmpd="sng" algn="ctr">
                      <a:solidFill>
                        <a:srgbClr val="A9C0C7"/>
                      </a:solidFill>
                      <a:prstDash val="solid"/>
                    </a:lnR>
                    <a:lnT w="6985" cap="flat" cmpd="sng" algn="ctr">
                      <a:solidFill>
                        <a:srgbClr val="A9C0C7"/>
                      </a:solidFill>
                      <a:prstDash val="solid"/>
                    </a:lnT>
                    <a:lnB w="6985" cap="flat" cmpd="sng" algn="ctr">
                      <a:solidFill>
                        <a:srgbClr val="A9C0C7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20" b="0">
                          <a:solidFill>
                            <a:srgbClr val="18323A"/>
                          </a:solidFill>
                          <a:latin typeface="Microsoft YaHei"/>
                        </a:rPr>
                        <a:t>KV: BF16 unquantized</a:t>
                      </a:r>
                    </a:p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20" b="0">
                          <a:solidFill>
                            <a:srgbClr val="18323A"/>
                          </a:solidFill>
                          <a:latin typeface="Microsoft YaHei"/>
                        </a:rPr>
                        <a:t>wq_b: FP8; weights_proj: BF16</a:t>
                      </a:r>
                    </a:p>
                  </a:txBody>
                  <a:tcPr marL="64008" marR="64008" marT="22860" marB="22860" anchor="ctr">
                    <a:solidFill>
                      <a:srgbClr val="FFFFFF"/>
                    </a:solidFill>
                    <a:lnL w="6985" cap="flat" cmpd="sng" algn="ctr">
                      <a:solidFill>
                        <a:srgbClr val="A9C0C7"/>
                      </a:solidFill>
                      <a:prstDash val="solid"/>
                    </a:lnL>
                    <a:lnR w="6985" cap="flat" cmpd="sng" algn="ctr">
                      <a:solidFill>
                        <a:srgbClr val="A9C0C7"/>
                      </a:solidFill>
                      <a:prstDash val="solid"/>
                    </a:lnR>
                    <a:lnT w="6985" cap="flat" cmpd="sng" algn="ctr">
                      <a:solidFill>
                        <a:srgbClr val="A9C0C7"/>
                      </a:solidFill>
                      <a:prstDash val="solid"/>
                    </a:lnT>
                    <a:lnB w="6985" cap="flat" cmpd="sng" algn="ctr">
                      <a:solidFill>
                        <a:srgbClr val="A9C0C7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20" b="0">
                          <a:solidFill>
                            <a:srgbClr val="18323A"/>
                          </a:solidFill>
                          <a:latin typeface="Microsoft YaHei"/>
                        </a:rPr>
                        <a:t>wq_b: UE8M0</a:t>
                      </a:r>
                    </a:p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20" b="0">
                          <a:solidFill>
                            <a:srgbClr val="18323A"/>
                          </a:solidFill>
                          <a:latin typeface="Microsoft YaHei"/>
                        </a:rPr>
                        <a:t>KV / weights_proj: N/A</a:t>
                      </a:r>
                    </a:p>
                  </a:txBody>
                  <a:tcPr marL="64008" marR="64008" marT="22860" marB="22860" anchor="ctr">
                    <a:solidFill>
                      <a:srgbClr val="FFFFFF"/>
                    </a:solidFill>
                    <a:lnL w="6985" cap="flat" cmpd="sng" algn="ctr">
                      <a:solidFill>
                        <a:srgbClr val="A9C0C7"/>
                      </a:solidFill>
                      <a:prstDash val="solid"/>
                    </a:lnL>
                    <a:lnR w="6985" cap="flat" cmpd="sng" algn="ctr">
                      <a:solidFill>
                        <a:srgbClr val="A9C0C7"/>
                      </a:solidFill>
                      <a:prstDash val="solid"/>
                    </a:lnR>
                    <a:lnT w="6985" cap="flat" cmpd="sng" algn="ctr">
                      <a:solidFill>
                        <a:srgbClr val="A9C0C7"/>
                      </a:solidFill>
                      <a:prstDash val="solid"/>
                    </a:lnT>
                    <a:lnB w="6985" cap="flat" cmpd="sng" algn="ctr">
                      <a:solidFill>
                        <a:srgbClr val="A9C0C7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20" b="0">
                          <a:solidFill>
                            <a:srgbClr val="18323A"/>
                          </a:solidFill>
                          <a:latin typeface="Microsoft YaHei"/>
                        </a:rPr>
                        <a:t>QAT/FP4 simulated QKV;</a:t>
                      </a:r>
                    </a:p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20" b="0">
                          <a:solidFill>
                            <a:srgbClr val="18323A"/>
                          </a:solidFill>
                          <a:latin typeface="Microsoft YaHei"/>
                        </a:rPr>
                        <a:t>FP32 scoring</a:t>
                      </a:r>
                    </a:p>
                  </a:txBody>
                  <a:tcPr marL="64008" marR="64008" marT="22860" marB="22860" anchor="ctr">
                    <a:solidFill>
                      <a:srgbClr val="FFFFFF"/>
                    </a:solidFill>
                    <a:lnL w="6985" cap="flat" cmpd="sng" algn="ctr">
                      <a:solidFill>
                        <a:srgbClr val="A9C0C7"/>
                      </a:solidFill>
                      <a:prstDash val="solid"/>
                    </a:lnL>
                    <a:lnR w="6985" cap="flat" cmpd="sng" algn="ctr">
                      <a:solidFill>
                        <a:srgbClr val="A9C0C7"/>
                      </a:solidFill>
                      <a:prstDash val="solid"/>
                    </a:lnR>
                    <a:lnT w="6985" cap="flat" cmpd="sng" algn="ctr">
                      <a:solidFill>
                        <a:srgbClr val="A9C0C7"/>
                      </a:solidFill>
                      <a:prstDash val="solid"/>
                    </a:lnT>
                    <a:lnB w="6985" cap="flat" cmpd="sng" algn="ctr">
                      <a:solidFill>
                        <a:srgbClr val="A9C0C7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20" b="0">
                          <a:solidFill>
                            <a:srgbClr val="18323A"/>
                          </a:solidFill>
                          <a:latin typeface="Microsoft YaHei"/>
                        </a:rPr>
                        <a:t>仅 ratio-4 层；Indexer KV</a:t>
                      </a:r>
                    </a:p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20" b="0">
                          <a:solidFill>
                            <a:srgbClr val="18323A"/>
                          </a:solidFill>
                          <a:latin typeface="Microsoft YaHei"/>
                        </a:rPr>
                        <a:t>与权重按当前实现组织</a:t>
                      </a:r>
                    </a:p>
                  </a:txBody>
                  <a:tcPr marL="64008" marR="64008" marT="22860" marB="22860" anchor="ctr">
                    <a:solidFill>
                      <a:srgbClr val="FFFFFF"/>
                    </a:solidFill>
                    <a:lnL w="6985" cap="flat" cmpd="sng" algn="ctr">
                      <a:solidFill>
                        <a:srgbClr val="A9C0C7"/>
                      </a:solidFill>
                      <a:prstDash val="solid"/>
                    </a:lnL>
                    <a:lnR w="6985" cap="flat" cmpd="sng" algn="ctr">
                      <a:solidFill>
                        <a:srgbClr val="A9C0C7"/>
                      </a:solidFill>
                      <a:prstDash val="solid"/>
                    </a:lnR>
                    <a:lnT w="6985" cap="flat" cmpd="sng" algn="ctr">
                      <a:solidFill>
                        <a:srgbClr val="A9C0C7"/>
                      </a:solidFill>
                      <a:prstDash val="solid"/>
                    </a:lnT>
                    <a:lnB w="6985" cap="flat" cmpd="sng" algn="ctr">
                      <a:solidFill>
                        <a:srgbClr val="A9C0C7"/>
                      </a:solidFill>
                      <a:prstDash val="solid"/>
                    </a:lnB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55" b="1">
                          <a:solidFill>
                            <a:srgbClr val="18323A"/>
                          </a:solidFill>
                          <a:latin typeface="Microsoft YaHei"/>
                        </a:rPr>
                        <a:t>Main Compressor</a:t>
                      </a:r>
                    </a:p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55" b="1">
                          <a:solidFill>
                            <a:srgbClr val="18323A"/>
                          </a:solidFill>
                          <a:latin typeface="Microsoft YaHei"/>
                        </a:rPr>
                        <a:t>wkv / wgate / ape</a:t>
                      </a:r>
                    </a:p>
                  </a:txBody>
                  <a:tcPr marL="64008" marR="64008" marT="22860" marB="22860" anchor="ctr">
                    <a:solidFill>
                      <a:srgbClr val="EDF5F6"/>
                    </a:solidFill>
                    <a:lnL w="6985" cap="flat" cmpd="sng" algn="ctr">
                      <a:solidFill>
                        <a:srgbClr val="A9C0C7"/>
                      </a:solidFill>
                      <a:prstDash val="solid"/>
                    </a:lnL>
                    <a:lnR w="6985" cap="flat" cmpd="sng" algn="ctr">
                      <a:solidFill>
                        <a:srgbClr val="A9C0C7"/>
                      </a:solidFill>
                      <a:prstDash val="solid"/>
                    </a:lnR>
                    <a:lnT w="6985" cap="flat" cmpd="sng" algn="ctr">
                      <a:solidFill>
                        <a:srgbClr val="A9C0C7"/>
                      </a:solidFill>
                      <a:prstDash val="solid"/>
                    </a:lnT>
                    <a:lnB w="6985" cap="flat" cmpd="sng" algn="ctr">
                      <a:solidFill>
                        <a:srgbClr val="A9C0C7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20" b="0">
                          <a:solidFill>
                            <a:srgbClr val="18323A"/>
                          </a:solidFill>
                          <a:latin typeface="Microsoft YaHei"/>
                        </a:rPr>
                        <a:t>checkpoint mainly BF16;</a:t>
                      </a:r>
                    </a:p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20" b="0">
                          <a:solidFill>
                            <a:srgbClr val="18323A"/>
                          </a:solidFill>
                          <a:latin typeface="Microsoft YaHei"/>
                        </a:rPr>
                        <a:t>FP32 inference parameters</a:t>
                      </a:r>
                    </a:p>
                  </a:txBody>
                  <a:tcPr marL="64008" marR="64008" marT="22860" marB="22860" anchor="ctr">
                    <a:solidFill>
                      <a:srgbClr val="EDF5F6"/>
                    </a:solidFill>
                    <a:lnL w="6985" cap="flat" cmpd="sng" algn="ctr">
                      <a:solidFill>
                        <a:srgbClr val="A9C0C7"/>
                      </a:solidFill>
                      <a:prstDash val="solid"/>
                    </a:lnL>
                    <a:lnR w="6985" cap="flat" cmpd="sng" algn="ctr">
                      <a:solidFill>
                        <a:srgbClr val="A9C0C7"/>
                      </a:solidFill>
                      <a:prstDash val="solid"/>
                    </a:lnR>
                    <a:lnT w="6985" cap="flat" cmpd="sng" algn="ctr">
                      <a:solidFill>
                        <a:srgbClr val="A9C0C7"/>
                      </a:solidFill>
                      <a:prstDash val="solid"/>
                    </a:lnT>
                    <a:lnB w="6985" cap="flat" cmpd="sng" algn="ctr">
                      <a:solidFill>
                        <a:srgbClr val="A9C0C7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20" b="0">
                          <a:solidFill>
                            <a:srgbClr val="18323A"/>
                          </a:solidFill>
                          <a:latin typeface="Microsoft YaHei"/>
                        </a:rPr>
                        <a:t>N/A</a:t>
                      </a:r>
                    </a:p>
                  </a:txBody>
                  <a:tcPr marL="64008" marR="64008" marT="22860" marB="22860" anchor="ctr">
                    <a:solidFill>
                      <a:srgbClr val="EDF5F6"/>
                    </a:solidFill>
                    <a:lnL w="6985" cap="flat" cmpd="sng" algn="ctr">
                      <a:solidFill>
                        <a:srgbClr val="A9C0C7"/>
                      </a:solidFill>
                      <a:prstDash val="solid"/>
                    </a:lnL>
                    <a:lnR w="6985" cap="flat" cmpd="sng" algn="ctr">
                      <a:solidFill>
                        <a:srgbClr val="A9C0C7"/>
                      </a:solidFill>
                      <a:prstDash val="solid"/>
                    </a:lnR>
                    <a:lnT w="6985" cap="flat" cmpd="sng" algn="ctr">
                      <a:solidFill>
                        <a:srgbClr val="A9C0C7"/>
                      </a:solidFill>
                      <a:prstDash val="solid"/>
                    </a:lnT>
                    <a:lnB w="6985" cap="flat" cmpd="sng" algn="ctr">
                      <a:solidFill>
                        <a:srgbClr val="A9C0C7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20" b="0">
                          <a:solidFill>
                            <a:srgbClr val="18323A"/>
                          </a:solidFill>
                          <a:latin typeface="Microsoft YaHei"/>
                        </a:rPr>
                        <a:t>FP32 compression /</a:t>
                      </a:r>
                    </a:p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20" b="0">
                          <a:solidFill>
                            <a:srgbClr val="18323A"/>
                          </a:solidFill>
                          <a:latin typeface="Microsoft YaHei"/>
                        </a:rPr>
                        <a:t>softmax</a:t>
                      </a:r>
                    </a:p>
                  </a:txBody>
                  <a:tcPr marL="64008" marR="64008" marT="22860" marB="22860" anchor="ctr">
                    <a:solidFill>
                      <a:srgbClr val="EDF5F6"/>
                    </a:solidFill>
                    <a:lnL w="6985" cap="flat" cmpd="sng" algn="ctr">
                      <a:solidFill>
                        <a:srgbClr val="A9C0C7"/>
                      </a:solidFill>
                      <a:prstDash val="solid"/>
                    </a:lnL>
                    <a:lnR w="6985" cap="flat" cmpd="sng" algn="ctr">
                      <a:solidFill>
                        <a:srgbClr val="A9C0C7"/>
                      </a:solidFill>
                      <a:prstDash val="solid"/>
                    </a:lnR>
                    <a:lnT w="6985" cap="flat" cmpd="sng" algn="ctr">
                      <a:solidFill>
                        <a:srgbClr val="A9C0C7"/>
                      </a:solidFill>
                      <a:prstDash val="solid"/>
                    </a:lnT>
                    <a:lnB w="6985" cap="flat" cmpd="sng" algn="ctr">
                      <a:solidFill>
                        <a:srgbClr val="A9C0C7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20" b="0">
                          <a:solidFill>
                            <a:srgbClr val="18323A"/>
                          </a:solidFill>
                          <a:latin typeface="Microsoft YaHei"/>
                        </a:rPr>
                        <a:t>生成压缩 KV；ratio-4 /</a:t>
                      </a:r>
                    </a:p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20" b="0">
                          <a:solidFill>
                            <a:srgbClr val="18323A"/>
                          </a:solidFill>
                          <a:latin typeface="Microsoft YaHei"/>
                        </a:rPr>
                        <a:t>ratio-128 层使用</a:t>
                      </a:r>
                    </a:p>
                  </a:txBody>
                  <a:tcPr marL="64008" marR="64008" marT="22860" marB="22860" anchor="ctr">
                    <a:solidFill>
                      <a:srgbClr val="EDF5F6"/>
                    </a:solidFill>
                    <a:lnL w="6985" cap="flat" cmpd="sng" algn="ctr">
                      <a:solidFill>
                        <a:srgbClr val="A9C0C7"/>
                      </a:solidFill>
                      <a:prstDash val="solid"/>
                    </a:lnL>
                    <a:lnR w="6985" cap="flat" cmpd="sng" algn="ctr">
                      <a:solidFill>
                        <a:srgbClr val="A9C0C7"/>
                      </a:solidFill>
                      <a:prstDash val="solid"/>
                    </a:lnR>
                    <a:lnT w="6985" cap="flat" cmpd="sng" algn="ctr">
                      <a:solidFill>
                        <a:srgbClr val="A9C0C7"/>
                      </a:solidFill>
                      <a:prstDash val="solid"/>
                    </a:lnT>
                    <a:lnB w="6985" cap="flat" cmpd="sng" algn="ctr">
                      <a:solidFill>
                        <a:srgbClr val="A9C0C7"/>
                      </a:solidFill>
                      <a:prstDash val="solid"/>
                    </a:lnB>
                  </a:tcPr>
                </a:tc>
              </a:tr>
              <a:tr h="182880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80" b="1">
                          <a:solidFill>
                            <a:srgbClr val="23855F"/>
                          </a:solidFill>
                          <a:latin typeface="Arial"/>
                        </a:rPr>
                        <a:t>MoE</a:t>
                      </a:r>
                    </a:p>
                  </a:txBody>
                  <a:tcPr marL="64008" marR="64008" marT="22860" marB="22860" anchor="ctr">
                    <a:solidFill>
                      <a:srgbClr val="EDF5F6"/>
                    </a:solidFill>
                    <a:lnL w="6985" cap="flat" cmpd="sng" algn="ctr">
                      <a:solidFill>
                        <a:srgbClr val="A9C0C7"/>
                      </a:solidFill>
                      <a:prstDash val="solid"/>
                    </a:lnL>
                    <a:lnR w="6985" cap="flat" cmpd="sng" algn="ctr">
                      <a:solidFill>
                        <a:srgbClr val="A9C0C7"/>
                      </a:solidFill>
                      <a:prstDash val="solid"/>
                    </a:lnR>
                    <a:lnT w="6985" cap="flat" cmpd="sng" algn="ctr">
                      <a:solidFill>
                        <a:srgbClr val="A9C0C7"/>
                      </a:solidFill>
                      <a:prstDash val="solid"/>
                    </a:lnT>
                    <a:lnB w="6985" cap="flat" cmpd="sng" algn="ctr">
                      <a:solidFill>
                        <a:srgbClr val="A9C0C7"/>
                      </a:solidFill>
                      <a:prstDash val="solid"/>
                    </a:lnB>
                  </a:tcPr>
                </a:tc>
                <a:tc gridSpan="4">
                  <a:txBody>
                    <a:bodyPr wrap="square"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10" b="0">
                          <a:solidFill>
                            <a:srgbClr val="55717A"/>
                          </a:solidFill>
                          <a:latin typeface="Microsoft YaHei"/>
                        </a:rPr>
                        <a:t>专家权重与路由数据类型</a:t>
                      </a:r>
                    </a:p>
                  </a:txBody>
                  <a:tcPr marL="64008" marR="64008" marT="22860" marB="22860" anchor="ctr">
                    <a:solidFill>
                      <a:srgbClr val="EDF5F6"/>
                    </a:solidFill>
                    <a:lnL w="6985" cap="flat" cmpd="sng" algn="ctr">
                      <a:solidFill>
                        <a:srgbClr val="A9C0C7"/>
                      </a:solidFill>
                      <a:prstDash val="solid"/>
                    </a:lnL>
                    <a:lnR w="6985" cap="flat" cmpd="sng" algn="ctr">
                      <a:solidFill>
                        <a:srgbClr val="A9C0C7"/>
                      </a:solidFill>
                      <a:prstDash val="solid"/>
                    </a:lnR>
                    <a:lnT w="6985" cap="flat" cmpd="sng" algn="ctr">
                      <a:solidFill>
                        <a:srgbClr val="A9C0C7"/>
                      </a:solidFill>
                      <a:prstDash val="solid"/>
                    </a:lnT>
                    <a:lnB w="6985" cap="flat" cmpd="sng" algn="ctr">
                      <a:solidFill>
                        <a:srgbClr val="A9C0C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329184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55" b="1">
                          <a:solidFill>
                            <a:srgbClr val="18323A"/>
                          </a:solidFill>
                          <a:latin typeface="Microsoft YaHei"/>
                        </a:rPr>
                        <a:t>Routed expert weights</a:t>
                      </a:r>
                    </a:p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55" b="1">
                          <a:solidFill>
                            <a:srgbClr val="18323A"/>
                          </a:solidFill>
                          <a:latin typeface="Microsoft YaHei"/>
                        </a:rPr>
                        <a:t>w1 / w2 / w3</a:t>
                      </a:r>
                    </a:p>
                  </a:txBody>
                  <a:tcPr marL="64008" marR="64008" marT="22860" marB="22860" anchor="ctr">
                    <a:solidFill>
                      <a:srgbClr val="FFFFFF"/>
                    </a:solidFill>
                    <a:lnL w="6985" cap="flat" cmpd="sng" algn="ctr">
                      <a:solidFill>
                        <a:srgbClr val="A9C0C7"/>
                      </a:solidFill>
                      <a:prstDash val="solid"/>
                    </a:lnL>
                    <a:lnR w="6985" cap="flat" cmpd="sng" algn="ctr">
                      <a:solidFill>
                        <a:srgbClr val="A9C0C7"/>
                      </a:solidFill>
                      <a:prstDash val="solid"/>
                    </a:lnR>
                    <a:lnT w="6985" cap="flat" cmpd="sng" algn="ctr">
                      <a:solidFill>
                        <a:srgbClr val="A9C0C7"/>
                      </a:solidFill>
                      <a:prstDash val="solid"/>
                    </a:lnT>
                    <a:lnB w="6985" cap="flat" cmpd="sng" algn="ctr">
                      <a:solidFill>
                        <a:srgbClr val="A9C0C7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20" b="0">
                          <a:solidFill>
                            <a:srgbClr val="18323A"/>
                          </a:solidFill>
                          <a:latin typeface="Microsoft YaHei"/>
                        </a:rPr>
                        <a:t>FP4 E2M1</a:t>
                      </a:r>
                    </a:p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20" b="0">
                          <a:solidFill>
                            <a:srgbClr val="18323A"/>
                          </a:solidFill>
                          <a:latin typeface="Microsoft YaHei"/>
                        </a:rPr>
                        <a:t>packed weights</a:t>
                      </a:r>
                    </a:p>
                  </a:txBody>
                  <a:tcPr marL="64008" marR="64008" marT="22860" marB="22860" anchor="ctr">
                    <a:solidFill>
                      <a:srgbClr val="FFFFFF"/>
                    </a:solidFill>
                    <a:lnL w="6985" cap="flat" cmpd="sng" algn="ctr">
                      <a:solidFill>
                        <a:srgbClr val="A9C0C7"/>
                      </a:solidFill>
                      <a:prstDash val="solid"/>
                    </a:lnL>
                    <a:lnR w="6985" cap="flat" cmpd="sng" algn="ctr">
                      <a:solidFill>
                        <a:srgbClr val="A9C0C7"/>
                      </a:solidFill>
                      <a:prstDash val="solid"/>
                    </a:lnR>
                    <a:lnT w="6985" cap="flat" cmpd="sng" algn="ctr">
                      <a:solidFill>
                        <a:srgbClr val="A9C0C7"/>
                      </a:solidFill>
                      <a:prstDash val="solid"/>
                    </a:lnT>
                    <a:lnB w="6985" cap="flat" cmpd="sng" algn="ctr">
                      <a:solidFill>
                        <a:srgbClr val="A9C0C7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20" b="0">
                          <a:solidFill>
                            <a:srgbClr val="18323A"/>
                          </a:solidFill>
                          <a:latin typeface="Microsoft YaHei"/>
                        </a:rPr>
                        <a:t>UE8M0 (E8M0)</a:t>
                      </a:r>
                    </a:p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20" b="0">
                          <a:solidFill>
                            <a:srgbClr val="18323A"/>
                          </a:solidFill>
                          <a:latin typeface="Microsoft YaHei"/>
                        </a:rPr>
                        <a:t>unsigned scale</a:t>
                      </a:r>
                    </a:p>
                  </a:txBody>
                  <a:tcPr marL="64008" marR="64008" marT="22860" marB="22860" anchor="ctr">
                    <a:solidFill>
                      <a:srgbClr val="FFFFFF"/>
                    </a:solidFill>
                    <a:lnL w="6985" cap="flat" cmpd="sng" algn="ctr">
                      <a:solidFill>
                        <a:srgbClr val="A9C0C7"/>
                      </a:solidFill>
                      <a:prstDash val="solid"/>
                    </a:lnL>
                    <a:lnR w="6985" cap="flat" cmpd="sng" algn="ctr">
                      <a:solidFill>
                        <a:srgbClr val="A9C0C7"/>
                      </a:solidFill>
                      <a:prstDash val="solid"/>
                    </a:lnR>
                    <a:lnT w="6985" cap="flat" cmpd="sng" algn="ctr">
                      <a:solidFill>
                        <a:srgbClr val="A9C0C7"/>
                      </a:solidFill>
                      <a:prstDash val="solid"/>
                    </a:lnT>
                    <a:lnB w="6985" cap="flat" cmpd="sng" algn="ctr">
                      <a:solidFill>
                        <a:srgbClr val="A9C0C7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20" b="0">
                          <a:solidFill>
                            <a:srgbClr val="18323A"/>
                          </a:solidFill>
                          <a:latin typeface="Microsoft YaHei"/>
                        </a:rPr>
                        <a:t>FP4 GEMM; SwiGLU FP32;</a:t>
                      </a:r>
                    </a:p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20" b="0">
                          <a:solidFill>
                            <a:srgbClr val="18323A"/>
                          </a:solidFill>
                          <a:latin typeface="Microsoft YaHei"/>
                        </a:rPr>
                        <a:t>output cast to BF16</a:t>
                      </a:r>
                    </a:p>
                  </a:txBody>
                  <a:tcPr marL="64008" marR="64008" marT="22860" marB="22860" anchor="ctr">
                    <a:solidFill>
                      <a:srgbClr val="FFFFFF"/>
                    </a:solidFill>
                    <a:lnL w="6985" cap="flat" cmpd="sng" algn="ctr">
                      <a:solidFill>
                        <a:srgbClr val="A9C0C7"/>
                      </a:solidFill>
                      <a:prstDash val="solid"/>
                    </a:lnL>
                    <a:lnR w="6985" cap="flat" cmpd="sng" algn="ctr">
                      <a:solidFill>
                        <a:srgbClr val="A9C0C7"/>
                      </a:solidFill>
                      <a:prstDash val="solid"/>
                    </a:lnR>
                    <a:lnT w="6985" cap="flat" cmpd="sng" algn="ctr">
                      <a:solidFill>
                        <a:srgbClr val="A9C0C7"/>
                      </a:solidFill>
                      <a:prstDash val="solid"/>
                    </a:lnT>
                    <a:lnB w="6985" cap="flat" cmpd="sng" algn="ctr">
                      <a:solidFill>
                        <a:srgbClr val="A9C0C7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20" b="0">
                          <a:solidFill>
                            <a:srgbClr val="18323A"/>
                          </a:solidFill>
                          <a:latin typeface="Microsoft YaHei"/>
                        </a:rPr>
                        <a:t>expert_id 分片；每 token</a:t>
                      </a:r>
                    </a:p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20" b="0">
                          <a:solidFill>
                            <a:srgbClr val="18323A"/>
                          </a:solidFill>
                          <a:latin typeface="Microsoft YaHei"/>
                        </a:rPr>
                        <a:t>Top-K=6 个路由专家</a:t>
                      </a:r>
                    </a:p>
                  </a:txBody>
                  <a:tcPr marL="64008" marR="64008" marT="22860" marB="22860" anchor="ctr">
                    <a:solidFill>
                      <a:srgbClr val="FFFFFF"/>
                    </a:solidFill>
                    <a:lnL w="6985" cap="flat" cmpd="sng" algn="ctr">
                      <a:solidFill>
                        <a:srgbClr val="A9C0C7"/>
                      </a:solidFill>
                      <a:prstDash val="solid"/>
                    </a:lnL>
                    <a:lnR w="6985" cap="flat" cmpd="sng" algn="ctr">
                      <a:solidFill>
                        <a:srgbClr val="A9C0C7"/>
                      </a:solidFill>
                      <a:prstDash val="solid"/>
                    </a:lnR>
                    <a:lnT w="6985" cap="flat" cmpd="sng" algn="ctr">
                      <a:solidFill>
                        <a:srgbClr val="A9C0C7"/>
                      </a:solidFill>
                      <a:prstDash val="solid"/>
                    </a:lnT>
                    <a:lnB w="6985" cap="flat" cmpd="sng" algn="ctr">
                      <a:solidFill>
                        <a:srgbClr val="A9C0C7"/>
                      </a:solidFill>
                      <a:prstDash val="solid"/>
                    </a:lnB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55" b="1">
                          <a:solidFill>
                            <a:srgbClr val="18323A"/>
                          </a:solidFill>
                          <a:latin typeface="Microsoft YaHei"/>
                        </a:rPr>
                        <a:t>Shared expert weights</a:t>
                      </a:r>
                    </a:p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55" b="1">
                          <a:solidFill>
                            <a:srgbClr val="18323A"/>
                          </a:solidFill>
                          <a:latin typeface="Microsoft YaHei"/>
                        </a:rPr>
                        <a:t>w1 / w2 / w3</a:t>
                      </a:r>
                    </a:p>
                  </a:txBody>
                  <a:tcPr marL="64008" marR="64008" marT="22860" marB="22860" anchor="ctr">
                    <a:solidFill>
                      <a:srgbClr val="EDF5F6"/>
                    </a:solidFill>
                    <a:lnL w="6985" cap="flat" cmpd="sng" algn="ctr">
                      <a:solidFill>
                        <a:srgbClr val="A9C0C7"/>
                      </a:solidFill>
                      <a:prstDash val="solid"/>
                    </a:lnL>
                    <a:lnR w="6985" cap="flat" cmpd="sng" algn="ctr">
                      <a:solidFill>
                        <a:srgbClr val="A9C0C7"/>
                      </a:solidFill>
                      <a:prstDash val="solid"/>
                    </a:lnR>
                    <a:lnT w="6985" cap="flat" cmpd="sng" algn="ctr">
                      <a:solidFill>
                        <a:srgbClr val="A9C0C7"/>
                      </a:solidFill>
                      <a:prstDash val="solid"/>
                    </a:lnT>
                    <a:lnB w="6985" cap="flat" cmpd="sng" algn="ctr">
                      <a:solidFill>
                        <a:srgbClr val="A9C0C7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20" b="0">
                          <a:solidFill>
                            <a:srgbClr val="18323A"/>
                          </a:solidFill>
                          <a:latin typeface="Microsoft YaHei"/>
                        </a:rPr>
                        <a:t>FP8 E4M3</a:t>
                      </a:r>
                    </a:p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20" b="0">
                          <a:solidFill>
                            <a:srgbClr val="18323A"/>
                          </a:solidFill>
                          <a:latin typeface="Microsoft YaHei"/>
                        </a:rPr>
                        <a:t>weights</a:t>
                      </a:r>
                    </a:p>
                  </a:txBody>
                  <a:tcPr marL="64008" marR="64008" marT="22860" marB="22860" anchor="ctr">
                    <a:solidFill>
                      <a:srgbClr val="EDF5F6"/>
                    </a:solidFill>
                    <a:lnL w="6985" cap="flat" cmpd="sng" algn="ctr">
                      <a:solidFill>
                        <a:srgbClr val="A9C0C7"/>
                      </a:solidFill>
                      <a:prstDash val="solid"/>
                    </a:lnL>
                    <a:lnR w="6985" cap="flat" cmpd="sng" algn="ctr">
                      <a:solidFill>
                        <a:srgbClr val="A9C0C7"/>
                      </a:solidFill>
                      <a:prstDash val="solid"/>
                    </a:lnR>
                    <a:lnT w="6985" cap="flat" cmpd="sng" algn="ctr">
                      <a:solidFill>
                        <a:srgbClr val="A9C0C7"/>
                      </a:solidFill>
                      <a:prstDash val="solid"/>
                    </a:lnT>
                    <a:lnB w="6985" cap="flat" cmpd="sng" algn="ctr">
                      <a:solidFill>
                        <a:srgbClr val="A9C0C7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20" b="0">
                          <a:solidFill>
                            <a:srgbClr val="18323A"/>
                          </a:solidFill>
                          <a:latin typeface="Microsoft YaHei"/>
                        </a:rPr>
                        <a:t>UE8M0 (E8M0)</a:t>
                      </a:r>
                    </a:p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20" b="0">
                          <a:solidFill>
                            <a:srgbClr val="18323A"/>
                          </a:solidFill>
                          <a:latin typeface="Microsoft YaHei"/>
                        </a:rPr>
                        <a:t>unsigned scale</a:t>
                      </a:r>
                    </a:p>
                  </a:txBody>
                  <a:tcPr marL="64008" marR="64008" marT="22860" marB="22860" anchor="ctr">
                    <a:solidFill>
                      <a:srgbClr val="EDF5F6"/>
                    </a:solidFill>
                    <a:lnL w="6985" cap="flat" cmpd="sng" algn="ctr">
                      <a:solidFill>
                        <a:srgbClr val="A9C0C7"/>
                      </a:solidFill>
                      <a:prstDash val="solid"/>
                    </a:lnL>
                    <a:lnR w="6985" cap="flat" cmpd="sng" algn="ctr">
                      <a:solidFill>
                        <a:srgbClr val="A9C0C7"/>
                      </a:solidFill>
                      <a:prstDash val="solid"/>
                    </a:lnR>
                    <a:lnT w="6985" cap="flat" cmpd="sng" algn="ctr">
                      <a:solidFill>
                        <a:srgbClr val="A9C0C7"/>
                      </a:solidFill>
                      <a:prstDash val="solid"/>
                    </a:lnT>
                    <a:lnB w="6985" cap="flat" cmpd="sng" algn="ctr">
                      <a:solidFill>
                        <a:srgbClr val="A9C0C7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20" b="0">
                          <a:solidFill>
                            <a:srgbClr val="18323A"/>
                          </a:solidFill>
                          <a:latin typeface="Microsoft YaHei"/>
                        </a:rPr>
                        <a:t>FP8 GEMM;</a:t>
                      </a:r>
                    </a:p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20" b="0">
                          <a:solidFill>
                            <a:srgbClr val="18323A"/>
                          </a:solidFill>
                          <a:latin typeface="Microsoft YaHei"/>
                        </a:rPr>
                        <a:t>SwiGLU FP32</a:t>
                      </a:r>
                    </a:p>
                  </a:txBody>
                  <a:tcPr marL="64008" marR="64008" marT="22860" marB="22860" anchor="ctr">
                    <a:solidFill>
                      <a:srgbClr val="EDF5F6"/>
                    </a:solidFill>
                    <a:lnL w="6985" cap="flat" cmpd="sng" algn="ctr">
                      <a:solidFill>
                        <a:srgbClr val="A9C0C7"/>
                      </a:solidFill>
                      <a:prstDash val="solid"/>
                    </a:lnL>
                    <a:lnR w="6985" cap="flat" cmpd="sng" algn="ctr">
                      <a:solidFill>
                        <a:srgbClr val="A9C0C7"/>
                      </a:solidFill>
                      <a:prstDash val="solid"/>
                    </a:lnR>
                    <a:lnT w="6985" cap="flat" cmpd="sng" algn="ctr">
                      <a:solidFill>
                        <a:srgbClr val="A9C0C7"/>
                      </a:solidFill>
                      <a:prstDash val="solid"/>
                    </a:lnT>
                    <a:lnB w="6985" cap="flat" cmpd="sng" algn="ctr">
                      <a:solidFill>
                        <a:srgbClr val="A9C0C7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20" b="0">
                          <a:solidFill>
                            <a:srgbClr val="18323A"/>
                          </a:solidFill>
                          <a:latin typeface="Microsoft YaHei"/>
                        </a:rPr>
                        <a:t>每层 1 个共享专家；</a:t>
                      </a:r>
                    </a:p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20" b="0">
                          <a:solidFill>
                            <a:srgbClr val="18323A"/>
                          </a:solidFill>
                          <a:latin typeface="Microsoft YaHei"/>
                        </a:rPr>
                        <a:t>跨 TP Rank 复制</a:t>
                      </a:r>
                    </a:p>
                  </a:txBody>
                  <a:tcPr marL="64008" marR="64008" marT="22860" marB="22860" anchor="ctr">
                    <a:solidFill>
                      <a:srgbClr val="EDF5F6"/>
                    </a:solidFill>
                    <a:lnL w="6985" cap="flat" cmpd="sng" algn="ctr">
                      <a:solidFill>
                        <a:srgbClr val="A9C0C7"/>
                      </a:solidFill>
                      <a:prstDash val="solid"/>
                    </a:lnL>
                    <a:lnR w="6985" cap="flat" cmpd="sng" algn="ctr">
                      <a:solidFill>
                        <a:srgbClr val="A9C0C7"/>
                      </a:solidFill>
                      <a:prstDash val="solid"/>
                    </a:lnR>
                    <a:lnT w="6985" cap="flat" cmpd="sng" algn="ctr">
                      <a:solidFill>
                        <a:srgbClr val="A9C0C7"/>
                      </a:solidFill>
                      <a:prstDash val="solid"/>
                    </a:lnT>
                    <a:lnB w="6985" cap="flat" cmpd="sng" algn="ctr">
                      <a:solidFill>
                        <a:srgbClr val="A9C0C7"/>
                      </a:solidFill>
                      <a:prstDash val="solid"/>
                    </a:lnB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55" b="1">
                          <a:solidFill>
                            <a:srgbClr val="18323A"/>
                          </a:solidFill>
                          <a:latin typeface="Microsoft YaHei"/>
                        </a:rPr>
                        <a:t>Router / Token-ID table</a:t>
                      </a:r>
                    </a:p>
                  </a:txBody>
                  <a:tcPr marL="64008" marR="64008" marT="22860" marB="22860" anchor="ctr">
                    <a:solidFill>
                      <a:srgbClr val="FFFFFF"/>
                    </a:solidFill>
                    <a:lnL w="6985" cap="flat" cmpd="sng" algn="ctr">
                      <a:solidFill>
                        <a:srgbClr val="A9C0C7"/>
                      </a:solidFill>
                      <a:prstDash val="solid"/>
                    </a:lnL>
                    <a:lnR w="6985" cap="flat" cmpd="sng" algn="ctr">
                      <a:solidFill>
                        <a:srgbClr val="A9C0C7"/>
                      </a:solidFill>
                      <a:prstDash val="solid"/>
                    </a:lnR>
                    <a:lnT w="6985" cap="flat" cmpd="sng" algn="ctr">
                      <a:solidFill>
                        <a:srgbClr val="A9C0C7"/>
                      </a:solidFill>
                      <a:prstDash val="solid"/>
                    </a:lnT>
                    <a:lnB w="6985" cap="flat" cmpd="sng" algn="ctr">
                      <a:solidFill>
                        <a:srgbClr val="A9C0C7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20" b="0">
                          <a:solidFill>
                            <a:srgbClr val="18323A"/>
                          </a:solidFill>
                          <a:latin typeface="Microsoft YaHei"/>
                        </a:rPr>
                        <a:t>FP32 bias;</a:t>
                      </a:r>
                    </a:p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20" b="0">
                          <a:solidFill>
                            <a:srgbClr val="18323A"/>
                          </a:solidFill>
                          <a:latin typeface="Microsoft YaHei"/>
                        </a:rPr>
                        <a:t>INT32 lookup table</a:t>
                      </a:r>
                    </a:p>
                  </a:txBody>
                  <a:tcPr marL="64008" marR="64008" marT="22860" marB="22860" anchor="ctr">
                    <a:solidFill>
                      <a:srgbClr val="FFFFFF"/>
                    </a:solidFill>
                    <a:lnL w="6985" cap="flat" cmpd="sng" algn="ctr">
                      <a:solidFill>
                        <a:srgbClr val="A9C0C7"/>
                      </a:solidFill>
                      <a:prstDash val="solid"/>
                    </a:lnL>
                    <a:lnR w="6985" cap="flat" cmpd="sng" algn="ctr">
                      <a:solidFill>
                        <a:srgbClr val="A9C0C7"/>
                      </a:solidFill>
                      <a:prstDash val="solid"/>
                    </a:lnR>
                    <a:lnT w="6985" cap="flat" cmpd="sng" algn="ctr">
                      <a:solidFill>
                        <a:srgbClr val="A9C0C7"/>
                      </a:solidFill>
                      <a:prstDash val="solid"/>
                    </a:lnT>
                    <a:lnB w="6985" cap="flat" cmpd="sng" algn="ctr">
                      <a:solidFill>
                        <a:srgbClr val="A9C0C7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20" b="0">
                          <a:solidFill>
                            <a:srgbClr val="18323A"/>
                          </a:solidFill>
                          <a:latin typeface="Microsoft YaHei"/>
                        </a:rPr>
                        <a:t>N/A</a:t>
                      </a:r>
                    </a:p>
                  </a:txBody>
                  <a:tcPr marL="64008" marR="64008" marT="22860" marB="22860" anchor="ctr">
                    <a:solidFill>
                      <a:srgbClr val="FFFFFF"/>
                    </a:solidFill>
                    <a:lnL w="6985" cap="flat" cmpd="sng" algn="ctr">
                      <a:solidFill>
                        <a:srgbClr val="A9C0C7"/>
                      </a:solidFill>
                      <a:prstDash val="solid"/>
                    </a:lnL>
                    <a:lnR w="6985" cap="flat" cmpd="sng" algn="ctr">
                      <a:solidFill>
                        <a:srgbClr val="A9C0C7"/>
                      </a:solidFill>
                      <a:prstDash val="solid"/>
                    </a:lnR>
                    <a:lnT w="6985" cap="flat" cmpd="sng" algn="ctr">
                      <a:solidFill>
                        <a:srgbClr val="A9C0C7"/>
                      </a:solidFill>
                      <a:prstDash val="solid"/>
                    </a:lnT>
                    <a:lnB w="6985" cap="flat" cmpd="sng" algn="ctr">
                      <a:solidFill>
                        <a:srgbClr val="A9C0C7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20" b="0">
                          <a:solidFill>
                            <a:srgbClr val="18323A"/>
                          </a:solidFill>
                          <a:latin typeface="Microsoft YaHei"/>
                        </a:rPr>
                        <a:t>FP32 score, Top-K</a:t>
                      </a:r>
                    </a:p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20" b="0">
                          <a:solidFill>
                            <a:srgbClr val="18323A"/>
                          </a:solidFill>
                          <a:latin typeface="Microsoft YaHei"/>
                        </a:rPr>
                        <a:t>and normalization</a:t>
                      </a:r>
                    </a:p>
                  </a:txBody>
                  <a:tcPr marL="64008" marR="64008" marT="22860" marB="22860" anchor="ctr">
                    <a:solidFill>
                      <a:srgbClr val="FFFFFF"/>
                    </a:solidFill>
                    <a:lnL w="6985" cap="flat" cmpd="sng" algn="ctr">
                      <a:solidFill>
                        <a:srgbClr val="A9C0C7"/>
                      </a:solidFill>
                      <a:prstDash val="solid"/>
                    </a:lnL>
                    <a:lnR w="6985" cap="flat" cmpd="sng" algn="ctr">
                      <a:solidFill>
                        <a:srgbClr val="A9C0C7"/>
                      </a:solidFill>
                      <a:prstDash val="solid"/>
                    </a:lnR>
                    <a:lnT w="6985" cap="flat" cmpd="sng" algn="ctr">
                      <a:solidFill>
                        <a:srgbClr val="A9C0C7"/>
                      </a:solidFill>
                      <a:prstDash val="solid"/>
                    </a:lnT>
                    <a:lnB w="6985" cap="flat" cmpd="sng" algn="ctr">
                      <a:solidFill>
                        <a:srgbClr val="A9C0C7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20" b="0">
                          <a:solidFill>
                            <a:srgbClr val="18323A"/>
                          </a:solidFill>
                          <a:latin typeface="Microsoft YaHei"/>
                        </a:rPr>
                        <a:t>前 3 层 Token-ID 查表；</a:t>
                      </a:r>
                    </a:p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20" b="0">
                          <a:solidFill>
                            <a:srgbClr val="18323A"/>
                          </a:solidFill>
                          <a:latin typeface="Microsoft YaHei"/>
                        </a:rPr>
                        <a:t>其余层 FP32 score routing</a:t>
                      </a:r>
                    </a:p>
                  </a:txBody>
                  <a:tcPr marL="64008" marR="64008" marT="22860" marB="22860" anchor="ctr">
                    <a:solidFill>
                      <a:srgbClr val="FFFFFF"/>
                    </a:solidFill>
                    <a:lnL w="6985" cap="flat" cmpd="sng" algn="ctr">
                      <a:solidFill>
                        <a:srgbClr val="A9C0C7"/>
                      </a:solidFill>
                      <a:prstDash val="solid"/>
                    </a:lnL>
                    <a:lnR w="6985" cap="flat" cmpd="sng" algn="ctr">
                      <a:solidFill>
                        <a:srgbClr val="A9C0C7"/>
                      </a:solidFill>
                      <a:prstDash val="solid"/>
                    </a:lnR>
                    <a:lnT w="6985" cap="flat" cmpd="sng" algn="ctr">
                      <a:solidFill>
                        <a:srgbClr val="A9C0C7"/>
                      </a:solidFill>
                      <a:prstDash val="solid"/>
                    </a:lnT>
                    <a:lnB w="6985" cap="flat" cmpd="sng" algn="ctr">
                      <a:solidFill>
                        <a:srgbClr val="A9C0C7"/>
                      </a:solidFill>
                      <a:prstDash val="solid"/>
                    </a:lnB>
                  </a:tcPr>
                </a:tc>
              </a:tr>
              <a:tr h="182880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80" b="1">
                          <a:solidFill>
                            <a:srgbClr val="B76700"/>
                          </a:solidFill>
                          <a:latin typeface="Arial"/>
                        </a:rPr>
                        <a:t>NORMALIZATION / TAIL</a:t>
                      </a:r>
                    </a:p>
                  </a:txBody>
                  <a:tcPr marL="64008" marR="64008" marT="22860" marB="22860" anchor="ctr">
                    <a:solidFill>
                      <a:srgbClr val="EDF5F6"/>
                    </a:solidFill>
                    <a:lnL w="6985" cap="flat" cmpd="sng" algn="ctr">
                      <a:solidFill>
                        <a:srgbClr val="A9C0C7"/>
                      </a:solidFill>
                      <a:prstDash val="solid"/>
                    </a:lnL>
                    <a:lnR w="6985" cap="flat" cmpd="sng" algn="ctr">
                      <a:solidFill>
                        <a:srgbClr val="A9C0C7"/>
                      </a:solidFill>
                      <a:prstDash val="solid"/>
                    </a:lnR>
                    <a:lnT w="6985" cap="flat" cmpd="sng" algn="ctr">
                      <a:solidFill>
                        <a:srgbClr val="A9C0C7"/>
                      </a:solidFill>
                      <a:prstDash val="solid"/>
                    </a:lnT>
                    <a:lnB w="6985" cap="flat" cmpd="sng" algn="ctr">
                      <a:solidFill>
                        <a:srgbClr val="A9C0C7"/>
                      </a:solidFill>
                      <a:prstDash val="solid"/>
                    </a:lnB>
                  </a:tcPr>
                </a:tc>
                <a:tc gridSpan="4">
                  <a:txBody>
                    <a:bodyPr wrap="square"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10" b="0">
                          <a:solidFill>
                            <a:srgbClr val="55717A"/>
                          </a:solidFill>
                          <a:latin typeface="Microsoft YaHei"/>
                        </a:rPr>
                        <a:t>数值稳定路径与词表输出</a:t>
                      </a:r>
                    </a:p>
                  </a:txBody>
                  <a:tcPr marL="64008" marR="64008" marT="22860" marB="22860" anchor="ctr">
                    <a:solidFill>
                      <a:srgbClr val="EDF5F6"/>
                    </a:solidFill>
                    <a:lnL w="6985" cap="flat" cmpd="sng" algn="ctr">
                      <a:solidFill>
                        <a:srgbClr val="A9C0C7"/>
                      </a:solidFill>
                      <a:prstDash val="solid"/>
                    </a:lnL>
                    <a:lnR w="6985" cap="flat" cmpd="sng" algn="ctr">
                      <a:solidFill>
                        <a:srgbClr val="A9C0C7"/>
                      </a:solidFill>
                      <a:prstDash val="solid"/>
                    </a:lnR>
                    <a:lnT w="6985" cap="flat" cmpd="sng" algn="ctr">
                      <a:solidFill>
                        <a:srgbClr val="A9C0C7"/>
                      </a:solidFill>
                      <a:prstDash val="solid"/>
                    </a:lnT>
                    <a:lnB w="6985" cap="flat" cmpd="sng" algn="ctr">
                      <a:solidFill>
                        <a:srgbClr val="A9C0C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329184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55" b="1">
                          <a:solidFill>
                            <a:srgbClr val="18323A"/>
                          </a:solidFill>
                          <a:latin typeface="Microsoft YaHei"/>
                        </a:rPr>
                        <a:t>RMSNorm / mHC / sinks</a:t>
                      </a:r>
                    </a:p>
                  </a:txBody>
                  <a:tcPr marL="64008" marR="64008" marT="22860" marB="22860" anchor="ctr">
                    <a:solidFill>
                      <a:srgbClr val="EDF5F6"/>
                    </a:solidFill>
                    <a:lnL w="6985" cap="flat" cmpd="sng" algn="ctr">
                      <a:solidFill>
                        <a:srgbClr val="A9C0C7"/>
                      </a:solidFill>
                      <a:prstDash val="solid"/>
                    </a:lnL>
                    <a:lnR w="6985" cap="flat" cmpd="sng" algn="ctr">
                      <a:solidFill>
                        <a:srgbClr val="A9C0C7"/>
                      </a:solidFill>
                      <a:prstDash val="solid"/>
                    </a:lnR>
                    <a:lnT w="6985" cap="flat" cmpd="sng" algn="ctr">
                      <a:solidFill>
                        <a:srgbClr val="A9C0C7"/>
                      </a:solidFill>
                      <a:prstDash val="solid"/>
                    </a:lnT>
                    <a:lnB w="6985" cap="flat" cmpd="sng" algn="ctr">
                      <a:solidFill>
                        <a:srgbClr val="A9C0C7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20" b="0">
                          <a:solidFill>
                            <a:srgbClr val="18323A"/>
                          </a:solidFill>
                          <a:latin typeface="Microsoft YaHei"/>
                        </a:rPr>
                        <a:t>BF16 weights;</a:t>
                      </a:r>
                    </a:p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20" b="0">
                          <a:solidFill>
                            <a:srgbClr val="18323A"/>
                          </a:solidFill>
                          <a:latin typeface="Microsoft YaHei"/>
                        </a:rPr>
                        <a:t>FP32 implementation params</a:t>
                      </a:r>
                    </a:p>
                  </a:txBody>
                  <a:tcPr marL="64008" marR="64008" marT="22860" marB="22860" anchor="ctr">
                    <a:solidFill>
                      <a:srgbClr val="EDF5F6"/>
                    </a:solidFill>
                    <a:lnL w="6985" cap="flat" cmpd="sng" algn="ctr">
                      <a:solidFill>
                        <a:srgbClr val="A9C0C7"/>
                      </a:solidFill>
                      <a:prstDash val="solid"/>
                    </a:lnL>
                    <a:lnR w="6985" cap="flat" cmpd="sng" algn="ctr">
                      <a:solidFill>
                        <a:srgbClr val="A9C0C7"/>
                      </a:solidFill>
                      <a:prstDash val="solid"/>
                    </a:lnR>
                    <a:lnT w="6985" cap="flat" cmpd="sng" algn="ctr">
                      <a:solidFill>
                        <a:srgbClr val="A9C0C7"/>
                      </a:solidFill>
                      <a:prstDash val="solid"/>
                    </a:lnT>
                    <a:lnB w="6985" cap="flat" cmpd="sng" algn="ctr">
                      <a:solidFill>
                        <a:srgbClr val="A9C0C7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20" b="0">
                          <a:solidFill>
                            <a:srgbClr val="18323A"/>
                          </a:solidFill>
                          <a:latin typeface="Microsoft YaHei"/>
                        </a:rPr>
                        <a:t>N/A</a:t>
                      </a:r>
                    </a:p>
                  </a:txBody>
                  <a:tcPr marL="64008" marR="64008" marT="22860" marB="22860" anchor="ctr">
                    <a:solidFill>
                      <a:srgbClr val="EDF5F6"/>
                    </a:solidFill>
                    <a:lnL w="6985" cap="flat" cmpd="sng" algn="ctr">
                      <a:solidFill>
                        <a:srgbClr val="A9C0C7"/>
                      </a:solidFill>
                      <a:prstDash val="solid"/>
                    </a:lnL>
                    <a:lnR w="6985" cap="flat" cmpd="sng" algn="ctr">
                      <a:solidFill>
                        <a:srgbClr val="A9C0C7"/>
                      </a:solidFill>
                      <a:prstDash val="solid"/>
                    </a:lnR>
                    <a:lnT w="6985" cap="flat" cmpd="sng" algn="ctr">
                      <a:solidFill>
                        <a:srgbClr val="A9C0C7"/>
                      </a:solidFill>
                      <a:prstDash val="solid"/>
                    </a:lnT>
                    <a:lnB w="6985" cap="flat" cmpd="sng" algn="ctr">
                      <a:solidFill>
                        <a:srgbClr val="A9C0C7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20" b="0">
                          <a:solidFill>
                            <a:srgbClr val="18323A"/>
                          </a:solidFill>
                          <a:latin typeface="Microsoft YaHei"/>
                        </a:rPr>
                        <a:t>FP32 compute →</a:t>
                      </a:r>
                    </a:p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20" b="0">
                          <a:solidFill>
                            <a:srgbClr val="18323A"/>
                          </a:solidFill>
                          <a:latin typeface="Microsoft YaHei"/>
                        </a:rPr>
                        <a:t>BF16 output / residual</a:t>
                      </a:r>
                    </a:p>
                  </a:txBody>
                  <a:tcPr marL="64008" marR="64008" marT="22860" marB="22860" anchor="ctr">
                    <a:solidFill>
                      <a:srgbClr val="EDF5F6"/>
                    </a:solidFill>
                    <a:lnL w="6985" cap="flat" cmpd="sng" algn="ctr">
                      <a:solidFill>
                        <a:srgbClr val="A9C0C7"/>
                      </a:solidFill>
                      <a:prstDash val="solid"/>
                    </a:lnL>
                    <a:lnR w="6985" cap="flat" cmpd="sng" algn="ctr">
                      <a:solidFill>
                        <a:srgbClr val="A9C0C7"/>
                      </a:solidFill>
                      <a:prstDash val="solid"/>
                    </a:lnR>
                    <a:lnT w="6985" cap="flat" cmpd="sng" algn="ctr">
                      <a:solidFill>
                        <a:srgbClr val="A9C0C7"/>
                      </a:solidFill>
                      <a:prstDash val="solid"/>
                    </a:lnT>
                    <a:lnB w="6985" cap="flat" cmpd="sng" algn="ctr">
                      <a:solidFill>
                        <a:srgbClr val="A9C0C7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20" b="0">
                          <a:solidFill>
                            <a:srgbClr val="18323A"/>
                          </a:solidFill>
                          <a:latin typeface="Microsoft YaHei"/>
                        </a:rPr>
                        <a:t>Norm、Sinkhorn、HC mixing</a:t>
                      </a:r>
                    </a:p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20" b="0">
                          <a:solidFill>
                            <a:srgbClr val="18323A"/>
                          </a:solidFill>
                          <a:latin typeface="Microsoft YaHei"/>
                        </a:rPr>
                        <a:t>保持 rank 内完整视图</a:t>
                      </a:r>
                    </a:p>
                  </a:txBody>
                  <a:tcPr marL="64008" marR="64008" marT="22860" marB="22860" anchor="ctr">
                    <a:solidFill>
                      <a:srgbClr val="EDF5F6"/>
                    </a:solidFill>
                    <a:lnL w="6985" cap="flat" cmpd="sng" algn="ctr">
                      <a:solidFill>
                        <a:srgbClr val="A9C0C7"/>
                      </a:solidFill>
                      <a:prstDash val="solid"/>
                    </a:lnL>
                    <a:lnR w="6985" cap="flat" cmpd="sng" algn="ctr">
                      <a:solidFill>
                        <a:srgbClr val="A9C0C7"/>
                      </a:solidFill>
                      <a:prstDash val="solid"/>
                    </a:lnR>
                    <a:lnT w="6985" cap="flat" cmpd="sng" algn="ctr">
                      <a:solidFill>
                        <a:srgbClr val="A9C0C7"/>
                      </a:solidFill>
                      <a:prstDash val="solid"/>
                    </a:lnT>
                    <a:lnB w="6985" cap="flat" cmpd="sng" algn="ctr">
                      <a:solidFill>
                        <a:srgbClr val="A9C0C7"/>
                      </a:solidFill>
                      <a:prstDash val="solid"/>
                    </a:lnB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55" b="1">
                          <a:solidFill>
                            <a:srgbClr val="18323A"/>
                          </a:solidFill>
                          <a:latin typeface="Microsoft YaHei"/>
                        </a:rPr>
                        <a:t>LM head / logits</a:t>
                      </a:r>
                    </a:p>
                  </a:txBody>
                  <a:tcPr marL="64008" marR="64008" marT="22860" marB="22860" anchor="ctr">
                    <a:solidFill>
                      <a:srgbClr val="FFFFFF"/>
                    </a:solidFill>
                    <a:lnL w="6985" cap="flat" cmpd="sng" algn="ctr">
                      <a:solidFill>
                        <a:srgbClr val="A9C0C7"/>
                      </a:solidFill>
                      <a:prstDash val="solid"/>
                    </a:lnL>
                    <a:lnR w="6985" cap="flat" cmpd="sng" algn="ctr">
                      <a:solidFill>
                        <a:srgbClr val="A9C0C7"/>
                      </a:solidFill>
                      <a:prstDash val="solid"/>
                    </a:lnR>
                    <a:lnT w="6985" cap="flat" cmpd="sng" algn="ctr">
                      <a:solidFill>
                        <a:srgbClr val="A9C0C7"/>
                      </a:solidFill>
                      <a:prstDash val="solid"/>
                    </a:lnT>
                    <a:lnB w="6985" cap="flat" cmpd="sng" algn="ctr">
                      <a:solidFill>
                        <a:srgbClr val="A9C0C7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20" b="0">
                          <a:solidFill>
                            <a:srgbClr val="18323A"/>
                          </a:solidFill>
                          <a:latin typeface="Microsoft YaHei"/>
                        </a:rPr>
                        <a:t>checkpoint BF16;</a:t>
                      </a:r>
                    </a:p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20" b="0">
                          <a:solidFill>
                            <a:srgbClr val="18323A"/>
                          </a:solidFill>
                          <a:latin typeface="Microsoft YaHei"/>
                        </a:rPr>
                        <a:t>FP32 inference parameters</a:t>
                      </a:r>
                    </a:p>
                  </a:txBody>
                  <a:tcPr marL="64008" marR="64008" marT="22860" marB="22860" anchor="ctr">
                    <a:solidFill>
                      <a:srgbClr val="FFFFFF"/>
                    </a:solidFill>
                    <a:lnL w="6985" cap="flat" cmpd="sng" algn="ctr">
                      <a:solidFill>
                        <a:srgbClr val="A9C0C7"/>
                      </a:solidFill>
                      <a:prstDash val="solid"/>
                    </a:lnL>
                    <a:lnR w="6985" cap="flat" cmpd="sng" algn="ctr">
                      <a:solidFill>
                        <a:srgbClr val="A9C0C7"/>
                      </a:solidFill>
                      <a:prstDash val="solid"/>
                    </a:lnR>
                    <a:lnT w="6985" cap="flat" cmpd="sng" algn="ctr">
                      <a:solidFill>
                        <a:srgbClr val="A9C0C7"/>
                      </a:solidFill>
                      <a:prstDash val="solid"/>
                    </a:lnT>
                    <a:lnB w="6985" cap="flat" cmpd="sng" algn="ctr">
                      <a:solidFill>
                        <a:srgbClr val="A9C0C7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20" b="0">
                          <a:solidFill>
                            <a:srgbClr val="18323A"/>
                          </a:solidFill>
                          <a:latin typeface="Microsoft YaHei"/>
                        </a:rPr>
                        <a:t>N/A</a:t>
                      </a:r>
                    </a:p>
                  </a:txBody>
                  <a:tcPr marL="64008" marR="64008" marT="22860" marB="22860" anchor="ctr">
                    <a:solidFill>
                      <a:srgbClr val="FFFFFF"/>
                    </a:solidFill>
                    <a:lnL w="6985" cap="flat" cmpd="sng" algn="ctr">
                      <a:solidFill>
                        <a:srgbClr val="A9C0C7"/>
                      </a:solidFill>
                      <a:prstDash val="solid"/>
                    </a:lnL>
                    <a:lnR w="6985" cap="flat" cmpd="sng" algn="ctr">
                      <a:solidFill>
                        <a:srgbClr val="A9C0C7"/>
                      </a:solidFill>
                      <a:prstDash val="solid"/>
                    </a:lnR>
                    <a:lnT w="6985" cap="flat" cmpd="sng" algn="ctr">
                      <a:solidFill>
                        <a:srgbClr val="A9C0C7"/>
                      </a:solidFill>
                      <a:prstDash val="solid"/>
                    </a:lnT>
                    <a:lnB w="6985" cap="flat" cmpd="sng" algn="ctr">
                      <a:solidFill>
                        <a:srgbClr val="A9C0C7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20" b="0">
                          <a:solidFill>
                            <a:srgbClr val="18323A"/>
                          </a:solidFill>
                          <a:latin typeface="Microsoft YaHei"/>
                        </a:rPr>
                        <a:t>FP32 linear + logits;</a:t>
                      </a:r>
                    </a:p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20" b="0">
                          <a:solidFill>
                            <a:srgbClr val="18323A"/>
                          </a:solidFill>
                          <a:latin typeface="Microsoft YaHei"/>
                        </a:rPr>
                        <a:t>BF16 hidden input</a:t>
                      </a:r>
                    </a:p>
                  </a:txBody>
                  <a:tcPr marL="64008" marR="64008" marT="22860" marB="22860" anchor="ctr">
                    <a:solidFill>
                      <a:srgbClr val="FFFFFF"/>
                    </a:solidFill>
                    <a:lnL w="6985" cap="flat" cmpd="sng" algn="ctr">
                      <a:solidFill>
                        <a:srgbClr val="A9C0C7"/>
                      </a:solidFill>
                      <a:prstDash val="solid"/>
                    </a:lnL>
                    <a:lnR w="6985" cap="flat" cmpd="sng" algn="ctr">
                      <a:solidFill>
                        <a:srgbClr val="A9C0C7"/>
                      </a:solidFill>
                      <a:prstDash val="solid"/>
                    </a:lnR>
                    <a:lnT w="6985" cap="flat" cmpd="sng" algn="ctr">
                      <a:solidFill>
                        <a:srgbClr val="A9C0C7"/>
                      </a:solidFill>
                      <a:prstDash val="solid"/>
                    </a:lnT>
                    <a:lnB w="6985" cap="flat" cmpd="sng" algn="ctr">
                      <a:solidFill>
                        <a:srgbClr val="A9C0C7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20" b="0">
                          <a:solidFill>
                            <a:srgbClr val="18323A"/>
                          </a:solidFill>
                          <a:latin typeface="Microsoft YaHei"/>
                        </a:rPr>
                        <a:t>vocab-sharded；local logits</a:t>
                      </a:r>
                    </a:p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20" b="0">
                          <a:solidFill>
                            <a:srgbClr val="18323A"/>
                          </a:solidFill>
                          <a:latin typeface="Microsoft YaHei"/>
                        </a:rPr>
                        <a:t>最后 AllGather 拼接</a:t>
                      </a:r>
                    </a:p>
                  </a:txBody>
                  <a:tcPr marL="64008" marR="64008" marT="22860" marB="22860" anchor="ctr">
                    <a:solidFill>
                      <a:srgbClr val="FFFFFF"/>
                    </a:solidFill>
                    <a:lnL w="6985" cap="flat" cmpd="sng" algn="ctr">
                      <a:solidFill>
                        <a:srgbClr val="A9C0C7"/>
                      </a:solidFill>
                      <a:prstDash val="solid"/>
                    </a:lnL>
                    <a:lnR w="6985" cap="flat" cmpd="sng" algn="ctr">
                      <a:solidFill>
                        <a:srgbClr val="A9C0C7"/>
                      </a:solidFill>
                      <a:prstDash val="solid"/>
                    </a:lnR>
                    <a:lnT w="6985" cap="flat" cmpd="sng" algn="ctr">
                      <a:solidFill>
                        <a:srgbClr val="A9C0C7"/>
                      </a:solidFill>
                      <a:prstDash val="solid"/>
                    </a:lnT>
                    <a:lnB w="6985" cap="flat" cmpd="sng" algn="ctr">
                      <a:solidFill>
                        <a:srgbClr val="A9C0C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4" name="Rounded Rectangle 13"/>
          <p:cNvSpPr/>
          <p:nvPr/>
        </p:nvSpPr>
        <p:spPr>
          <a:xfrm>
            <a:off x="347472" y="6492240"/>
            <a:ext cx="11484864" cy="210312"/>
          </a:xfrm>
          <a:prstGeom prst="roundRect">
            <a:avLst/>
          </a:prstGeom>
          <a:solidFill>
            <a:srgbClr val="EDF5F6"/>
          </a:solidFill>
          <a:ln w="8255">
            <a:solidFill>
              <a:srgbClr val="A9C0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2920" y="6533388"/>
            <a:ext cx="10927080" cy="13716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70" b="1">
                <a:solidFill>
                  <a:srgbClr val="18323A"/>
                </a:solidFill>
                <a:latin typeface="Microsoft YaHei"/>
              </a:rPr>
              <a:t>口径：Scale 只对应量化权重；hidden state / residual / KV cache 均按 BF16 存储。wo_a 是推理 BF16，不是“FP8 + Scale”。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845552" y="6729984"/>
            <a:ext cx="3840480" cy="109728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0" b="0">
                <a:solidFill>
                  <a:srgbClr val="55717A"/>
                </a:solidFill>
                <a:latin typeface="Consolas"/>
              </a:rPr>
              <a:t>source: config.json · dtype sheet · current inference design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DeepSeek V4 Flash Operator Data Types</dc:title>
  <dc:subject>Weights, scales, hidden states, KV cache and operator design</dc:subject>
  <dc:creator>DeepSeek V4 Flash repository</dc:creator>
  <cp:keywords/>
  <dc:description>Editable one-slide operator data-type summary generated from the reference configuration.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