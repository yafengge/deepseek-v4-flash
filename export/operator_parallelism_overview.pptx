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78638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00000"/>
                </a:solidFill>
                <a:latin typeface="Microsoft YaHei"/>
              </a:rPr>
              <a:t>六类算子的并行策略总览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64008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555555"/>
                </a:solidFill>
                <a:latin typeface="Microsoft YaHei"/>
              </a:rPr>
              <a:t>基于当前 TP=8 参考实现：先看参数/激活布局，再看每个 rank 的本地工作与跨 rank 通信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914400"/>
            <a:ext cx="11311128" cy="365760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99669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Microsoft YaHei"/>
              </a:rPr>
              <a:t>读图：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9576" y="996696"/>
            <a:ext cx="1874519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2B6"/>
                </a:solidFill>
                <a:latin typeface="Microsoft YaHei"/>
              </a:rPr>
              <a:t>Shard = 按维度/ID 分片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996696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3855F"/>
                </a:solidFill>
                <a:latin typeface="Microsoft YaHei"/>
              </a:rPr>
              <a:t>Replicate = 每 rank 完整副本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996696"/>
            <a:ext cx="148132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050A2"/>
                </a:solidFill>
                <a:latin typeface="Microsoft YaHei"/>
              </a:rPr>
              <a:t>AllReduce = 求和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88352" y="99669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C6544C"/>
                </a:solidFill>
                <a:latin typeface="Microsoft YaHei"/>
              </a:rPr>
              <a:t>AllGather = 拼接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99669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5B6F7D"/>
                </a:solidFill>
                <a:latin typeface="Consolas"/>
              </a:rPr>
              <a:t>V= vocab_size  ·  D=hidden dim  ·  H=hc_mult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1444752"/>
            <a:ext cx="3661562" cy="208483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" y="1444752"/>
            <a:ext cx="64008" cy="2084831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1581912"/>
            <a:ext cx="283464" cy="283464"/>
          </a:xfrm>
          <a:prstGeom prst="ellipse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581912"/>
            <a:ext cx="28346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6F9FB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7" y="1563624"/>
            <a:ext cx="294833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11111"/>
                </a:solidFill>
                <a:latin typeface="Microsoft YaHei"/>
              </a:rPr>
              <a:t>VocabParallelEmbedding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" y="1947672"/>
            <a:ext cx="1207008" cy="210312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799" y="1965960"/>
            <a:ext cx="106070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008C99"/>
                </a:solidFill>
                <a:latin typeface="Arial"/>
              </a:rPr>
              <a:t>VOCAB SHARD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2212848"/>
            <a:ext cx="331409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008C99"/>
                </a:solidFill>
                <a:latin typeface="Microsoft YaHei"/>
              </a:rPr>
              <a:t>按词表行切分；局部 lookup 后求和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" y="2523744"/>
            <a:ext cx="3314090" cy="8961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42C3A"/>
                </a:solidFill>
                <a:latin typeface="Microsoft YaHei"/>
              </a:rPr>
              <a:t>参数：W_r=[V/TP,D]；input_ids 在各 rank 全量</a:t>
            </a:r>
            <a:br/>
            <a:r>
              <a:rPr sz="800" b="0">
                <a:solidFill>
                  <a:srgbClr val="142C3A"/>
                </a:solidFill>
                <a:latin typeface="Microsoft YaHei"/>
              </a:rPr>
              <a:t>Rank r：非本地 token mask=0，再查本地表</a:t>
            </a:r>
            <a:br/>
            <a:r>
              <a:rPr sz="800" b="0">
                <a:solidFill>
                  <a:srgbClr val="142C3A"/>
                </a:solidFill>
                <a:latin typeface="Microsoft YaHei"/>
              </a:rPr>
              <a:t>通信：AllReduce(sum) → [B,S,D] 全量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5066" y="1444752"/>
            <a:ext cx="3661562" cy="208483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65066" y="1444752"/>
            <a:ext cx="64008" cy="2084831"/>
          </a:xfrm>
          <a:prstGeom prst="rect">
            <a:avLst/>
          </a:prstGeom>
          <a:solidFill>
            <a:srgbClr val="2E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20514" y="1581912"/>
            <a:ext cx="283464" cy="283464"/>
          </a:xfrm>
          <a:prstGeom prst="ellipse">
            <a:avLst/>
          </a:prstGeom>
          <a:solidFill>
            <a:srgbClr val="2E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0514" y="1581912"/>
            <a:ext cx="28346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6F9FB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4562" y="1563624"/>
            <a:ext cx="294833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11111"/>
                </a:solidFill>
                <a:latin typeface="Microsoft YaHei"/>
              </a:rPr>
              <a:t>Attention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8802" y="1947672"/>
            <a:ext cx="1051560" cy="210312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2E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1954" y="1965960"/>
            <a:ext cx="905255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2E72B6"/>
                </a:solidFill>
                <a:latin typeface="Arial"/>
              </a:rPr>
              <a:t>Q/O SHARD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8802" y="2212848"/>
            <a:ext cx="331409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2E72B6"/>
                </a:solidFill>
                <a:latin typeface="Microsoft YaHei"/>
              </a:rPr>
              <a:t>Q heads、O factors 切分；KV 每 rank 复制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8802" y="2523744"/>
            <a:ext cx="3314090" cy="8961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42C3A"/>
                </a:solidFill>
                <a:latin typeface="Microsoft YaHei"/>
              </a:rPr>
              <a:t>参数：wq_b/wo_a/wo_b 分片；wq_a、wkv 复制</a:t>
            </a:r>
            <a:br/>
            <a:r>
              <a:rPr sz="800" b="0">
                <a:solidFill>
                  <a:srgbClr val="142C3A"/>
                </a:solidFill>
                <a:latin typeface="Microsoft YaHei"/>
              </a:rPr>
              <a:t>Rank r：局部 Q heads 与 O groups；KV/cache 全量</a:t>
            </a:r>
            <a:br/>
            <a:r>
              <a:rPr sz="800" b="0">
                <a:solidFill>
                  <a:srgbClr val="142C3A"/>
                </a:solidFill>
                <a:latin typeface="Microsoft YaHei"/>
              </a:rPr>
              <a:t>通信：输出 AllReduce；ratio-4 Indexer score 也归约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1220" y="1444752"/>
            <a:ext cx="3661562" cy="208483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91220" y="1444752"/>
            <a:ext cx="64008" cy="2084831"/>
          </a:xfrm>
          <a:prstGeom prst="rect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46668" y="1581912"/>
            <a:ext cx="283464" cy="283464"/>
          </a:xfrm>
          <a:prstGeom prst="ellipse">
            <a:avLst/>
          </a:prstGeom>
          <a:solidFill>
            <a:srgbClr val="23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6668" y="1581912"/>
            <a:ext cx="28346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6F9FB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0716" y="1563624"/>
            <a:ext cx="294833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11111"/>
                </a:solidFill>
                <a:latin typeface="Microsoft YaHei"/>
              </a:rPr>
              <a:t>Expert parallel MoE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64956" y="1947672"/>
            <a:ext cx="1417320" cy="210312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23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8108" y="1965960"/>
            <a:ext cx="1271016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23855F"/>
                </a:solidFill>
                <a:latin typeface="Arial"/>
              </a:rPr>
              <a:t>EXPERT-ID SHARD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4956" y="2212848"/>
            <a:ext cx="331409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23855F"/>
                </a:solidFill>
                <a:latin typeface="Microsoft YaHei"/>
              </a:rPr>
              <a:t>routed experts 按 expert_id 分片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4956" y="2523744"/>
            <a:ext cx="3314090" cy="8961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42C3A"/>
                </a:solidFill>
                <a:latin typeface="Microsoft YaHei"/>
              </a:rPr>
              <a:t>参数：E/TP 个 routed experts；gate/shared 复制</a:t>
            </a:r>
            <a:br/>
            <a:r>
              <a:rPr sz="800" b="0">
                <a:solidFill>
                  <a:srgbClr val="142C3A"/>
                </a:solidFill>
                <a:latin typeface="Microsoft YaHei"/>
              </a:rPr>
              <a:t>Rank r：完整 token + 路由表，只算本地 experts</a:t>
            </a:r>
            <a:br/>
            <a:r>
              <a:rPr sz="800" b="0">
                <a:solidFill>
                  <a:srgbClr val="142C3A"/>
                </a:solidFill>
                <a:latin typeface="Microsoft YaHei"/>
              </a:rPr>
              <a:t>通信：routed AllReduce；shared 复制计算、不归约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" y="3730752"/>
            <a:ext cx="3661562" cy="208483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" y="3730752"/>
            <a:ext cx="64008" cy="2084831"/>
          </a:xfrm>
          <a:prstGeom prst="rect">
            <a:avLst/>
          </a:prstGeom>
          <a:solidFill>
            <a:srgbClr val="B7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4360" y="3867912"/>
            <a:ext cx="283464" cy="283464"/>
          </a:xfrm>
          <a:prstGeom prst="ellipse">
            <a:avLst/>
          </a:prstGeom>
          <a:solidFill>
            <a:srgbClr val="B76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3867912"/>
            <a:ext cx="28346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6F9FB"/>
                </a:solidFill>
                <a:latin typeface="Arial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7" y="3849624"/>
            <a:ext cx="294833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11111"/>
                </a:solidFill>
                <a:latin typeface="Microsoft YaHei"/>
              </a:rPr>
              <a:t>RMSNorm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7" y="4233672"/>
            <a:ext cx="960120" cy="210312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B76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799" y="4251959"/>
            <a:ext cx="813816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B76700"/>
                </a:solidFill>
                <a:latin typeface="Arial"/>
              </a:rPr>
              <a:t>REPLICATED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7" y="4498848"/>
            <a:ext cx="331409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B76700"/>
                </a:solidFill>
                <a:latin typeface="Microsoft YaHei"/>
              </a:rPr>
              <a:t>完整 hidden 维度本地算；不是 hidden-shard TP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7" y="4809744"/>
            <a:ext cx="3314090" cy="8961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42C3A"/>
                </a:solidFill>
                <a:latin typeface="Microsoft YaHei"/>
              </a:rPr>
              <a:t>参数/输入：γ 与 [B,S,D] 都是完整副本</a:t>
            </a:r>
            <a:br/>
            <a:r>
              <a:rPr sz="800" b="0">
                <a:solidFill>
                  <a:srgbClr val="142C3A"/>
                </a:solidFill>
                <a:latin typeface="Microsoft YaHei"/>
              </a:rPr>
              <a:t>Rank r：沿 D 本地计算 mean(x²)，再乘 γ</a:t>
            </a:r>
            <a:br/>
            <a:r>
              <a:rPr sz="800" b="0">
                <a:solidFill>
                  <a:srgbClr val="142C3A"/>
                </a:solidFill>
                <a:latin typeface="Microsoft YaHei"/>
              </a:rPr>
              <a:t>通信：无；mean(-1) 不是跨 rank Reduce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65066" y="3730752"/>
            <a:ext cx="3661562" cy="208483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65066" y="3730752"/>
            <a:ext cx="64008" cy="2084831"/>
          </a:xfrm>
          <a:prstGeom prst="rect">
            <a:avLst/>
          </a:prstGeom>
          <a:solidFill>
            <a:srgbClr val="70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20514" y="3867912"/>
            <a:ext cx="283464" cy="283464"/>
          </a:xfrm>
          <a:prstGeom prst="ellipse">
            <a:avLst/>
          </a:prstGeom>
          <a:solidFill>
            <a:srgbClr val="70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20514" y="3867912"/>
            <a:ext cx="28346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6F9FB"/>
                </a:solidFill>
                <a:latin typeface="Arial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4562" y="3849624"/>
            <a:ext cx="294833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11111"/>
                </a:solidFill>
                <a:latin typeface="Microsoft YaHei"/>
              </a:rPr>
              <a:t>mHC (pre-mix + post-mix)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38802" y="4233672"/>
            <a:ext cx="1399032" cy="210312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70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11954" y="4251959"/>
            <a:ext cx="125272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7050A2"/>
                </a:solidFill>
                <a:latin typeface="Arial"/>
              </a:rPr>
              <a:t>HC REPLICATED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8802" y="4498848"/>
            <a:ext cx="331409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7050A2"/>
                </a:solidFill>
                <a:latin typeface="Microsoft YaHei"/>
              </a:rPr>
              <a:t>沿 HC 维度混合；mHC 本身不切 TP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8802" y="4809744"/>
            <a:ext cx="3314090" cy="8961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42C3A"/>
                </a:solidFill>
                <a:latin typeface="Microsoft YaHei"/>
              </a:rPr>
              <a:t>参数：HC mixing/Sinkhorn 参数复制</a:t>
            </a:r>
            <a:br/>
            <a:r>
              <a:rPr sz="800" b="0">
                <a:solidFill>
                  <a:srgbClr val="142C3A"/>
                </a:solidFill>
                <a:latin typeface="Microsoft YaHei"/>
              </a:rPr>
              <a:t>Rank r：pre [B,S,H,D]→[B,S,D]；post 反向扩展</a:t>
            </a:r>
            <a:br/>
            <a:r>
              <a:rPr sz="800" b="0">
                <a:solidFill>
                  <a:srgbClr val="142C3A"/>
                </a:solidFill>
                <a:latin typeface="Microsoft YaHei"/>
              </a:rPr>
              <a:t>通信：无；Attention/MoE 内部再执行 TP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1220" y="3730752"/>
            <a:ext cx="3661562" cy="2084831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91220" y="3730752"/>
            <a:ext cx="64008" cy="2084831"/>
          </a:xfrm>
          <a:prstGeom prst="rect">
            <a:avLst/>
          </a:prstGeom>
          <a:solidFill>
            <a:srgbClr val="C65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246668" y="3867912"/>
            <a:ext cx="283464" cy="283464"/>
          </a:xfrm>
          <a:prstGeom prst="ellipse">
            <a:avLst/>
          </a:prstGeom>
          <a:solidFill>
            <a:srgbClr val="C65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46668" y="3867912"/>
            <a:ext cx="28346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6F9FB"/>
                </a:solidFill>
                <a:latin typeface="Arial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30716" y="3849624"/>
            <a:ext cx="294833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111111"/>
                </a:solidFill>
                <a:latin typeface="Microsoft YaHei"/>
              </a:rPr>
              <a:t>LM Head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64956" y="4233672"/>
            <a:ext cx="1207008" cy="210312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C65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38108" y="4251959"/>
            <a:ext cx="1060704" cy="1737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C6544C"/>
                </a:solidFill>
                <a:latin typeface="Arial"/>
              </a:rPr>
              <a:t>VOCAB SHARD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64956" y="4498848"/>
            <a:ext cx="331409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C6544C"/>
                </a:solidFill>
                <a:latin typeface="Microsoft YaHei"/>
              </a:rPr>
              <a:t>按词表行切 logits；最后拼成完整 vocab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64956" y="4809744"/>
            <a:ext cx="3314090" cy="89611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42C3A"/>
                </a:solidFill>
                <a:latin typeface="Microsoft YaHei"/>
              </a:rPr>
              <a:t>参数：W_r=[V/TP,D]；hidden/Norm 在各 rank 全量</a:t>
            </a:r>
            <a:br/>
            <a:r>
              <a:rPr sz="800" b="0">
                <a:solidFill>
                  <a:srgbClr val="142C3A"/>
                </a:solidFill>
                <a:latin typeface="Microsoft YaHei"/>
              </a:rPr>
              <a:t>Rank r：last token → local logits [B,V/TP]</a:t>
            </a:r>
            <a:br/>
            <a:r>
              <a:rPr sz="800" b="0">
                <a:solidFill>
                  <a:srgbClr val="142C3A"/>
                </a:solidFill>
                <a:latin typeface="Microsoft YaHei"/>
              </a:rPr>
              <a:t>通信：AllGather(concat) → [B,V]；权重独立于 Embedding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8912" y="5998464"/>
            <a:ext cx="11311128" cy="393192"/>
          </a:xfrm>
          <a:prstGeom prst="roundRect">
            <a:avLst/>
          </a:prstGeom>
          <a:solidFill>
            <a:srgbClr val="EAF2F5"/>
          </a:solidFill>
          <a:ln w="10160">
            <a:solidFill>
              <a:srgbClr val="C2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" y="6089904"/>
            <a:ext cx="12984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11111"/>
                </a:solidFill>
                <a:latin typeface="Arial"/>
              </a:rPr>
              <a:t>COLLECTIVE PATH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29968" y="6089904"/>
            <a:ext cx="672998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E72B6"/>
                </a:solidFill>
                <a:latin typeface="Arial"/>
              </a:rPr>
              <a:t>Embedding  AllReduce  →  Attention  AllReduce  →  MoE  AllReduce  →  LM Head  AllGather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97696" y="6089904"/>
            <a:ext cx="248716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3855F"/>
                </a:solidFill>
                <a:latin typeface="Arial"/>
              </a:rPr>
              <a:t>RMSNorm / mHC：local only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6344" y="6519672"/>
            <a:ext cx="69494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B6F7D"/>
                </a:solidFill>
                <a:latin typeface="Consolas"/>
              </a:rPr>
              <a:t>source  inference/model.py  ·  export/export_rank0_prefill.py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20" y="6519672"/>
            <a:ext cx="27889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B6F7D"/>
                </a:solidFill>
                <a:latin typeface="Consolas"/>
              </a:rPr>
              <a:t>TP=world_size=8  ·  当前参考实现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六类算子的并行策略总览</dc:title>
  <dc:subject>Tensor parallelism, expert parallelism and replicated operators</dc:subject>
  <dc:creator>DeepSeek-V4 Flash repository</dc:creator>
  <cp:keywords/>
  <dc:description>Editable one-slide operator parallelism overview based on the reference implementation.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