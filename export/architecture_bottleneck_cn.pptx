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146304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11111"/>
                </a:solidFill>
                <a:latin typeface="Microsoft YaHei"/>
              </a:rPr>
              <a:t>协同设计架构，解决系统瓶颈</a:t>
            </a:r>
          </a:p>
        </p:txBody>
      </p:sp>
      <p:sp>
        <p:nvSpPr>
          <p:cNvPr id="3" name="Rectangle 2"/>
          <p:cNvSpPr/>
          <p:nvPr/>
        </p:nvSpPr>
        <p:spPr>
          <a:xfrm>
            <a:off x="7571231" y="91440"/>
            <a:ext cx="3127248" cy="493776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54112" y="128016"/>
            <a:ext cx="276148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555555"/>
                </a:solidFill>
                <a:latin typeface="Microsoft YaHei"/>
              </a:rPr>
              <a:t>• Gather：维度变大</a:t>
            </a:r>
            <a:br/>
            <a:r>
              <a:rPr sz="1060" b="0">
                <a:solidFill>
                  <a:srgbClr val="555555"/>
                </a:solidFill>
                <a:latin typeface="Microsoft YaHei"/>
              </a:rPr>
              <a:t>• Reduce：维度不变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25296"/>
            <a:ext cx="8366760" cy="4178808"/>
          </a:xfrm>
          <a:prstGeom prst="rect">
            <a:avLst/>
          </a:prstGeom>
          <a:noFill/>
          <a:ln w="12700">
            <a:solidFill>
              <a:srgbClr val="C2D4D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38912" y="804672"/>
            <a:ext cx="109728" cy="109728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58952"/>
            <a:ext cx="18105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张量 Gather（片上）</a:t>
            </a:r>
          </a:p>
        </p:txBody>
      </p:sp>
      <p:sp>
        <p:nvSpPr>
          <p:cNvPr id="8" name="Oval 7"/>
          <p:cNvSpPr/>
          <p:nvPr/>
        </p:nvSpPr>
        <p:spPr>
          <a:xfrm>
            <a:off x="5257800" y="804672"/>
            <a:ext cx="109728" cy="109728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58968" y="758952"/>
            <a:ext cx="18105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AllGather（片间）</a:t>
            </a:r>
          </a:p>
        </p:txBody>
      </p:sp>
      <p:sp>
        <p:nvSpPr>
          <p:cNvPr id="10" name="Oval 9"/>
          <p:cNvSpPr/>
          <p:nvPr/>
        </p:nvSpPr>
        <p:spPr>
          <a:xfrm>
            <a:off x="9930384" y="804672"/>
            <a:ext cx="109728" cy="109728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31552" y="758952"/>
            <a:ext cx="17007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量化（FM 在线）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627632"/>
            <a:ext cx="1389888" cy="420624"/>
          </a:xfrm>
          <a:prstGeom prst="rect">
            <a:avLst/>
          </a:prstGeom>
          <a:solidFill>
            <a:srgbClr val="EAF2F5"/>
          </a:solidFill>
          <a:ln w="12700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1673352"/>
            <a:ext cx="12435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111111"/>
                </a:solidFill>
                <a:latin typeface="Microsoft YaHei"/>
              </a:rPr>
              <a:t>HBM 切片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2048256"/>
            <a:ext cx="109728" cy="201168"/>
          </a:xfrm>
          <a:prstGeom prst="rect">
            <a:avLst/>
          </a:prstGeom>
          <a:solidFill>
            <a:srgbClr val="23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5256" y="2249424"/>
            <a:ext cx="89611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2295144"/>
            <a:ext cx="749808" cy="29260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11111"/>
                </a:solidFill>
                <a:latin typeface="Microsoft YaHei"/>
              </a:rPr>
              <a:t>本地视图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98448" y="2633472"/>
            <a:ext cx="109728" cy="256032"/>
          </a:xfrm>
          <a:prstGeom prst="rect">
            <a:avLst/>
          </a:prstGeom>
          <a:solidFill>
            <a:srgbClr val="23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2889504"/>
            <a:ext cx="1389888" cy="530352"/>
          </a:xfrm>
          <a:prstGeom prst="rect">
            <a:avLst/>
          </a:prstGeom>
          <a:solidFill>
            <a:srgbClr val="F3F3F3"/>
          </a:solidFill>
          <a:ln w="12700">
            <a:solidFill>
              <a:srgbClr val="C65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2935224"/>
            <a:ext cx="124358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111111"/>
                </a:solidFill>
                <a:latin typeface="Microsoft YaHei"/>
              </a:rPr>
              <a:t>计算核心切片 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53312" y="3419856"/>
            <a:ext cx="0" cy="310896"/>
          </a:xfrm>
          <a:prstGeom prst="line">
            <a:avLst/>
          </a:prstGeom>
          <a:ln w="17780">
            <a:solidFill>
              <a:srgbClr val="C654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53312" y="3730752"/>
            <a:ext cx="0" cy="256032"/>
          </a:xfrm>
          <a:prstGeom prst="line">
            <a:avLst/>
          </a:prstGeom>
          <a:ln w="17780">
            <a:solidFill>
              <a:srgbClr val="C2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651760" y="1627632"/>
            <a:ext cx="1389888" cy="420624"/>
          </a:xfrm>
          <a:prstGeom prst="rect">
            <a:avLst/>
          </a:prstGeom>
          <a:solidFill>
            <a:srgbClr val="EAF2F5"/>
          </a:solidFill>
          <a:ln w="12700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24912" y="1673352"/>
            <a:ext cx="12435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111111"/>
                </a:solidFill>
                <a:latin typeface="Microsoft YaHei"/>
              </a:rPr>
              <a:t>HBM 切片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39" y="2048256"/>
            <a:ext cx="109728" cy="201168"/>
          </a:xfrm>
          <a:prstGeom prst="rect">
            <a:avLst/>
          </a:prstGeom>
          <a:solidFill>
            <a:srgbClr val="23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98648" y="2249424"/>
            <a:ext cx="89611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2295144"/>
            <a:ext cx="749808" cy="29260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11111"/>
                </a:solidFill>
                <a:latin typeface="Microsoft YaHei"/>
              </a:rPr>
              <a:t>本地视图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39" y="2633472"/>
            <a:ext cx="109728" cy="256032"/>
          </a:xfrm>
          <a:prstGeom prst="rect">
            <a:avLst/>
          </a:prstGeom>
          <a:solidFill>
            <a:srgbClr val="23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51760" y="2889504"/>
            <a:ext cx="1389888" cy="530352"/>
          </a:xfrm>
          <a:prstGeom prst="rect">
            <a:avLst/>
          </a:prstGeom>
          <a:solidFill>
            <a:srgbClr val="F3F3F3"/>
          </a:solidFill>
          <a:ln w="12700">
            <a:solidFill>
              <a:srgbClr val="C65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24912" y="2935224"/>
            <a:ext cx="124358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111111"/>
                </a:solidFill>
                <a:latin typeface="Microsoft YaHei"/>
              </a:rPr>
              <a:t>计算核心切片 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346704" y="3419856"/>
            <a:ext cx="0" cy="310896"/>
          </a:xfrm>
          <a:prstGeom prst="line">
            <a:avLst/>
          </a:prstGeom>
          <a:ln w="17780">
            <a:solidFill>
              <a:srgbClr val="C654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346704" y="3730752"/>
            <a:ext cx="0" cy="256032"/>
          </a:xfrm>
          <a:prstGeom prst="line">
            <a:avLst/>
          </a:prstGeom>
          <a:ln w="17780">
            <a:solidFill>
              <a:srgbClr val="C2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645152" y="1627632"/>
            <a:ext cx="1389888" cy="420624"/>
          </a:xfrm>
          <a:prstGeom prst="rect">
            <a:avLst/>
          </a:prstGeom>
          <a:solidFill>
            <a:srgbClr val="EAF2F5"/>
          </a:solidFill>
          <a:ln w="12700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1673352"/>
            <a:ext cx="12435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111111"/>
                </a:solidFill>
                <a:latin typeface="Microsoft YaHei"/>
              </a:rPr>
              <a:t>HBM 切片 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85232" y="2048256"/>
            <a:ext cx="109728" cy="201168"/>
          </a:xfrm>
          <a:prstGeom prst="rect">
            <a:avLst/>
          </a:prstGeom>
          <a:solidFill>
            <a:srgbClr val="23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92040" y="2249424"/>
            <a:ext cx="89611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65192" y="2295144"/>
            <a:ext cx="749808" cy="29260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11111"/>
                </a:solidFill>
                <a:latin typeface="Microsoft YaHei"/>
              </a:rPr>
              <a:t>本地视图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5232" y="2633472"/>
            <a:ext cx="109728" cy="256032"/>
          </a:xfrm>
          <a:prstGeom prst="rect">
            <a:avLst/>
          </a:prstGeom>
          <a:solidFill>
            <a:srgbClr val="23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45152" y="2889504"/>
            <a:ext cx="1389888" cy="530352"/>
          </a:xfrm>
          <a:prstGeom prst="rect">
            <a:avLst/>
          </a:prstGeom>
          <a:solidFill>
            <a:srgbClr val="F3F3F3"/>
          </a:solidFill>
          <a:ln w="12700">
            <a:solidFill>
              <a:srgbClr val="C65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2935224"/>
            <a:ext cx="124358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111111"/>
                </a:solidFill>
                <a:latin typeface="Microsoft YaHei"/>
              </a:rPr>
              <a:t>计算核心切片 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40096" y="3419856"/>
            <a:ext cx="0" cy="310896"/>
          </a:xfrm>
          <a:prstGeom prst="line">
            <a:avLst/>
          </a:prstGeom>
          <a:ln w="17780">
            <a:solidFill>
              <a:srgbClr val="C654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340096" y="3730752"/>
            <a:ext cx="0" cy="256032"/>
          </a:xfrm>
          <a:prstGeom prst="line">
            <a:avLst/>
          </a:prstGeom>
          <a:ln w="17780">
            <a:solidFill>
              <a:srgbClr val="C2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638544" y="1627632"/>
            <a:ext cx="1389888" cy="420624"/>
          </a:xfrm>
          <a:prstGeom prst="rect">
            <a:avLst/>
          </a:prstGeom>
          <a:solidFill>
            <a:srgbClr val="EAF2F5"/>
          </a:solidFill>
          <a:ln w="12700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11696" y="1673352"/>
            <a:ext cx="12435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111111"/>
                </a:solidFill>
                <a:latin typeface="Microsoft YaHei"/>
              </a:rPr>
              <a:t>HBM 切片 64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78624" y="2048256"/>
            <a:ext cx="109728" cy="201168"/>
          </a:xfrm>
          <a:prstGeom prst="rect">
            <a:avLst/>
          </a:prstGeom>
          <a:solidFill>
            <a:srgbClr val="23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85431" y="2249424"/>
            <a:ext cx="89611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58583" y="2295144"/>
            <a:ext cx="749808" cy="29260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11111"/>
                </a:solidFill>
                <a:latin typeface="Microsoft YaHei"/>
              </a:rPr>
              <a:t>本地视图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78624" y="2633472"/>
            <a:ext cx="109728" cy="256032"/>
          </a:xfrm>
          <a:prstGeom prst="rect">
            <a:avLst/>
          </a:prstGeom>
          <a:solidFill>
            <a:srgbClr val="23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38544" y="2889504"/>
            <a:ext cx="1389888" cy="530352"/>
          </a:xfrm>
          <a:prstGeom prst="rect">
            <a:avLst/>
          </a:prstGeom>
          <a:solidFill>
            <a:srgbClr val="F3F3F3"/>
          </a:solidFill>
          <a:ln w="12700">
            <a:solidFill>
              <a:srgbClr val="C65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11696" y="2935224"/>
            <a:ext cx="124358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111111"/>
                </a:solidFill>
                <a:latin typeface="Microsoft YaHei"/>
              </a:rPr>
              <a:t>计算核心切片 64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333488" y="3419856"/>
            <a:ext cx="0" cy="310896"/>
          </a:xfrm>
          <a:prstGeom prst="line">
            <a:avLst/>
          </a:prstGeom>
          <a:ln w="17780">
            <a:solidFill>
              <a:srgbClr val="C654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33488" y="3730752"/>
            <a:ext cx="0" cy="256032"/>
          </a:xfrm>
          <a:prstGeom prst="line">
            <a:avLst/>
          </a:prstGeom>
          <a:ln w="17780">
            <a:solidFill>
              <a:srgbClr val="C2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870448" y="2578608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555555"/>
                </a:solidFill>
                <a:latin typeface="Arial"/>
              </a:rPr>
              <a:t>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3986784"/>
            <a:ext cx="7571231" cy="438912"/>
          </a:xfrm>
          <a:prstGeom prst="rect">
            <a:avLst/>
          </a:prstGeom>
          <a:solidFill>
            <a:srgbClr val="EAF2F5"/>
          </a:solidFill>
          <a:ln w="15240">
            <a:solidFill>
              <a:srgbClr val="B7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2" y="4087368"/>
            <a:ext cx="70774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55555"/>
                </a:solidFill>
                <a:latin typeface="Microsoft YaHei"/>
              </a:rPr>
              <a:t>集合通信网络 · 高带宽、低时延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4462272"/>
            <a:ext cx="7571231" cy="347472"/>
          </a:xfrm>
          <a:prstGeom prst="rect">
            <a:avLst/>
          </a:prstGeom>
          <a:solidFill>
            <a:srgbClr val="F3F3F3"/>
          </a:solidFill>
          <a:ln w="1270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" y="4535424"/>
            <a:ext cx="7223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555555"/>
                </a:solidFill>
                <a:latin typeface="Microsoft YaHei"/>
              </a:rPr>
              <a:t>通用 NoC · 带宽较低、时延较高 · 更灵活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229600" y="4636008"/>
            <a:ext cx="676656" cy="0"/>
          </a:xfrm>
          <a:prstGeom prst="line">
            <a:avLst/>
          </a:prstGeom>
          <a:ln w="25400">
            <a:solidFill>
              <a:srgbClr val="B76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8897112" y="4370832"/>
            <a:ext cx="1389888" cy="676656"/>
          </a:xfrm>
          <a:prstGeom prst="rect">
            <a:avLst/>
          </a:prstGeom>
          <a:solidFill>
            <a:srgbClr val="F3F3F3"/>
          </a:solidFill>
          <a:ln w="12700">
            <a:solidFill>
              <a:srgbClr val="B7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70264" y="4416552"/>
            <a:ext cx="1243584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11111"/>
                </a:solidFill>
                <a:latin typeface="Microsoft YaHei"/>
              </a:rPr>
              <a:t>Scale-up</a:t>
            </a:r>
            <a:br/>
            <a:r>
              <a:rPr sz="1019" b="1">
                <a:solidFill>
                  <a:srgbClr val="111111"/>
                </a:solidFill>
                <a:latin typeface="Microsoft YaHei"/>
              </a:rPr>
              <a:t>以太网桥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70848" y="1371600"/>
            <a:ext cx="27706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855F"/>
                </a:solidFill>
                <a:latin typeface="Arial"/>
              </a:rPr>
              <a:t>最快本地路径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0848" y="1682496"/>
            <a:ext cx="277063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将每个计算核心切片与一个 HBM 切片配对，形成低时延、</a:t>
            </a:r>
            <a:br/>
            <a:r>
              <a:rPr sz="1100" b="0">
                <a:solidFill>
                  <a:srgbClr val="555555"/>
                </a:solidFill>
                <a:latin typeface="Microsoft YaHei"/>
              </a:rPr>
              <a:t>高带宽的本地访问视图。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70848" y="2542032"/>
            <a:ext cx="27706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76700"/>
                </a:solidFill>
                <a:latin typeface="Arial"/>
              </a:rPr>
              <a:t>专用核间互连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70848" y="2852927"/>
            <a:ext cx="277063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集合通信网络针对常见通信模式优化带宽和时延。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70848" y="3401568"/>
            <a:ext cx="27706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保持灵活性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70848" y="3712464"/>
            <a:ext cx="277063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共享 NoC 支持通用通信，并连接 Scale-up 网络。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" y="5897880"/>
            <a:ext cx="108630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855F"/>
                </a:solidFill>
                <a:latin typeface="Microsoft YaHei"/>
              </a:rPr>
              <a:t>将常用操作数保留在本地；仅在必要时使用共享路径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641908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Microsoft YaHei"/>
              </a:rPr>
              <a:t>显式布局和分布式控制，避免数据搬移与同步主导执行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协同设计架构，解决系统瓶颈</dc:title>
  <dc:subject>Chinese translation of HBM, core slice and collective network architecture diagram</dc:subject>
  <dc:creator>DeepSeek V4 Flash repository</dc:creator>
  <cp:keywords/>
  <dc:description>Editable one-slide Chinese redraw based on the supplied reference image.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