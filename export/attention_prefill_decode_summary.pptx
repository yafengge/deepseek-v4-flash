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0896" y="109728"/>
            <a:ext cx="8915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C00000"/>
                </a:solidFill>
                <a:latin typeface="Microsoft YaHei"/>
              </a:rPr>
              <a:t>Attention 参数、KV Cache 与算力汇总 · Prefill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91472" y="118872"/>
            <a:ext cx="2350008" cy="292608"/>
          </a:xfrm>
          <a:prstGeom prst="roundRect">
            <a:avLst/>
          </a:prstGeom>
          <a:solidFill>
            <a:srgbClr val="EAF2F5"/>
          </a:solidFill>
          <a:ln w="10160">
            <a:solidFill>
              <a:srgbClr val="2E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82912" y="182880"/>
            <a:ext cx="2167128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2E72B6"/>
                </a:solidFill>
                <a:latin typeface="Consolas"/>
              </a:rPr>
              <a:t>B=1 · S=8,192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512064"/>
            <a:ext cx="882396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55555"/>
                </a:solidFill>
                <a:latin typeface="Microsoft YaHei"/>
              </a:rPr>
              <a:t>三段同一张表：整网原生层级 / ratio=4 单层 / ratio=8 对比单层；每段垂直拆分 TP1、TP8 每卡状态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1432" y="512064"/>
            <a:ext cx="2670048" cy="1737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5B6F7D"/>
                </a:solidFill>
                <a:latin typeface="Consolas"/>
              </a:rPr>
              <a:t>D=4096 · H=64 · d=512 · q=1024 · G=8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877824"/>
            <a:ext cx="11686032" cy="5138928"/>
          </a:xfrm>
          <a:prstGeom prst="rect">
            <a:avLst/>
          </a:prstGeom>
          <a:solidFill>
            <a:srgbClr val="FFFFFF"/>
          </a:solidFill>
          <a:ln w="1143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877824"/>
            <a:ext cx="749808" cy="365760"/>
          </a:xfrm>
          <a:prstGeom prst="rect">
            <a:avLst/>
          </a:prstGeom>
          <a:solidFill>
            <a:srgbClr val="142C3A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932688"/>
            <a:ext cx="603503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5B6F7D"/>
                </a:solidFill>
                <a:latin typeface="Microsoft YaHei"/>
              </a:rPr>
              <a:t>TP / 每卡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877824"/>
            <a:ext cx="3291840" cy="365760"/>
          </a:xfrm>
          <a:prstGeom prst="rect">
            <a:avLst/>
          </a:prstGeom>
          <a:solidFill>
            <a:srgbClr val="142C3A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932688"/>
            <a:ext cx="31455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5B6F7D"/>
                </a:solidFill>
                <a:latin typeface="Microsoft YaHei"/>
              </a:rPr>
              <a:t>Attention 算子参数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877824"/>
            <a:ext cx="1481328" cy="365760"/>
          </a:xfrm>
          <a:prstGeom prst="rect">
            <a:avLst/>
          </a:prstGeom>
          <a:solidFill>
            <a:srgbClr val="142C3A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2" y="932688"/>
            <a:ext cx="133502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5B6F7D"/>
                </a:solidFill>
                <a:latin typeface="Microsoft YaHei"/>
              </a:rPr>
              <a:t>KV Cache 容量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79008" y="877824"/>
            <a:ext cx="2322576" cy="365760"/>
          </a:xfrm>
          <a:prstGeom prst="rect">
            <a:avLst/>
          </a:prstGeom>
          <a:solidFill>
            <a:srgbClr val="142C3A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932688"/>
            <a:ext cx="2176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5B6F7D"/>
                </a:solidFill>
                <a:latin typeface="Microsoft YaHei"/>
              </a:rPr>
              <a:t>数据类型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1583" y="877824"/>
            <a:ext cx="2286000" cy="365760"/>
          </a:xfrm>
          <a:prstGeom prst="rect">
            <a:avLst/>
          </a:prstGeom>
          <a:solidFill>
            <a:srgbClr val="142C3A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932688"/>
            <a:ext cx="21396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5B6F7D"/>
                </a:solidFill>
                <a:latin typeface="Microsoft YaHei"/>
              </a:rPr>
              <a:t>计算量 / 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87584" y="877824"/>
            <a:ext cx="1554480" cy="365760"/>
          </a:xfrm>
          <a:prstGeom prst="rect">
            <a:avLst/>
          </a:prstGeom>
          <a:solidFill>
            <a:srgbClr val="142C3A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60736" y="932688"/>
            <a:ext cx="140817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5B6F7D"/>
                </a:solidFill>
                <a:latin typeface="Microsoft YaHei"/>
              </a:rPr>
              <a:t>分片状态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" y="1243584"/>
            <a:ext cx="11686032" cy="274320"/>
          </a:xfrm>
          <a:prstGeom prst="rect">
            <a:avLst/>
          </a:prstGeom>
          <a:solidFill>
            <a:srgbClr val="EAF2F5"/>
          </a:solidFill>
          <a:ln w="889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6032" y="1243584"/>
            <a:ext cx="68580" cy="274320"/>
          </a:xfrm>
          <a:prstGeom prst="rect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" y="1275587"/>
            <a:ext cx="1965960" cy="21031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008C99"/>
                </a:solidFill>
                <a:latin typeface="Microsoft YaHei"/>
              </a:rPr>
              <a:t>整网 Attention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04872" y="1284731"/>
            <a:ext cx="938174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F7D"/>
                </a:solidFill>
                <a:latin typeface="Microsoft YaHei"/>
              </a:rPr>
              <a:t>原生 43 层：window×2 + ratio=4×21 + ratio=128×20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" y="1517904"/>
            <a:ext cx="749808" cy="658368"/>
          </a:xfrm>
          <a:prstGeom prst="rect">
            <a:avLst/>
          </a:prstGeom>
          <a:solidFill>
            <a:srgbClr val="EAF2F5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1572768"/>
            <a:ext cx="603503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8C99"/>
                </a:solidFill>
                <a:latin typeface="Arial"/>
              </a:rPr>
              <a:t>TP1</a:t>
            </a:r>
            <a:br/>
            <a:r>
              <a:rPr sz="900" b="1">
                <a:solidFill>
                  <a:srgbClr val="008C99"/>
                </a:solidFill>
                <a:latin typeface="Arial"/>
              </a:rPr>
              <a:t>每卡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1517904"/>
            <a:ext cx="329184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1572768"/>
            <a:ext cx="314553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111111"/>
                </a:solidFill>
                <a:latin typeface="Microsoft YaHei"/>
              </a:rPr>
              <a:t>合计 5.086B logical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Core 4.599B · Comp 261.465M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Indexer 225.730M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存储 7.451 GB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1517904"/>
            <a:ext cx="1481328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2" y="1572768"/>
            <a:ext cx="133502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111111"/>
                </a:solidFill>
                <a:latin typeface="Microsoft YaHei"/>
              </a:rPr>
              <a:t>主 KV 0.051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Indexer 0.011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State 0.012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合计 0.074 GB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79008" y="1517904"/>
            <a:ext cx="2322576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0" y="1572768"/>
            <a:ext cx="217627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11111"/>
                </a:solidFill>
                <a:latin typeface="Microsoft YaHei"/>
              </a:rPr>
              <a:t>主投影：FP8 E4M3 + E8M0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wo_a / Q / KV / attn：BF16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Norm / Sink：FP32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含 ratio-4 Indexer：FP8 / BF16 / FP32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01583" y="1517904"/>
            <a:ext cx="228600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74736" y="1572768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11111"/>
                </a:solidFill>
                <a:latin typeface="Microsoft YaHei"/>
              </a:rPr>
              <a:t>总计 102.836 TFLOPs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Proj 75.351 TFLOPs · QK+AV 16.641 TFLOPs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Indexer 6.583 TFLOPs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Compressor 4.261 TFLOPs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87584" y="1517904"/>
            <a:ext cx="155448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60736" y="1572768"/>
            <a:ext cx="140817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F7D"/>
                </a:solidFill>
                <a:latin typeface="Microsoft YaHei"/>
              </a:rPr>
              <a:t>Q 64 heads</a:t>
            </a:r>
            <a:br/>
            <a:r>
              <a:rPr sz="700" b="0">
                <a:solidFill>
                  <a:srgbClr val="5B6F7D"/>
                </a:solidFill>
                <a:latin typeface="Microsoft YaHei"/>
              </a:rPr>
              <a:t>O 8 groups</a:t>
            </a:r>
            <a:br/>
            <a:r>
              <a:rPr sz="700" b="0">
                <a:solidFill>
                  <a:srgbClr val="5B6F7D"/>
                </a:solidFill>
                <a:latin typeface="Microsoft YaHei"/>
              </a:rPr>
              <a:t>每卡 / rank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" y="2176272"/>
            <a:ext cx="749808" cy="658368"/>
          </a:xfrm>
          <a:prstGeom prst="rect">
            <a:avLst/>
          </a:prstGeom>
          <a:solidFill>
            <a:srgbClr val="EAF2F5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" y="2231136"/>
            <a:ext cx="603503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72B6"/>
                </a:solidFill>
                <a:latin typeface="Arial"/>
              </a:rPr>
              <a:t>TP8</a:t>
            </a:r>
            <a:br/>
            <a:r>
              <a:rPr sz="900" b="1">
                <a:solidFill>
                  <a:srgbClr val="2E72B6"/>
                </a:solidFill>
                <a:latin typeface="Arial"/>
              </a:rPr>
              <a:t>每卡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" y="2176272"/>
            <a:ext cx="329184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8992" y="2231136"/>
            <a:ext cx="314553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111111"/>
                </a:solidFill>
                <a:latin typeface="Microsoft YaHei"/>
              </a:rPr>
              <a:t>合计 1.140B logical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Core 811.598M · Comp 261.465M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Indexer 66.773M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存储 2.238 GB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80" y="2176272"/>
            <a:ext cx="1481328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70832" y="2231136"/>
            <a:ext cx="133502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111111"/>
                </a:solidFill>
                <a:latin typeface="Microsoft YaHei"/>
              </a:rPr>
              <a:t>主 KV 0.051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Indexer 0.011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State 0.012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合计 0.074 GB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79008" y="2176272"/>
            <a:ext cx="2322576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2160" y="2231136"/>
            <a:ext cx="217627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11111"/>
                </a:solidFill>
                <a:latin typeface="Microsoft YaHei"/>
              </a:rPr>
              <a:t>主投影：FP8 E4M3 + E8M0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wo_a / Q / KV / attn：BF16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Norm / Sink：FP32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含 ratio-4 Indexer：FP8 / BF16 / FP32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01583" y="2176272"/>
            <a:ext cx="228600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74736" y="2231136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11111"/>
                </a:solidFill>
                <a:latin typeface="Microsoft YaHei"/>
              </a:rPr>
              <a:t>总计 23.172 TFLOPs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Proj 13.297 TFLOPs · QK+AV 4.160 TFLOPs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Indexer 1.454 TFLOPs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Compressor 4.261 TFLOPs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387584" y="2176272"/>
            <a:ext cx="155448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460736" y="2231136"/>
            <a:ext cx="140817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F7D"/>
                </a:solidFill>
                <a:latin typeface="Microsoft YaHei"/>
              </a:rPr>
              <a:t>Q 8 heads</a:t>
            </a:r>
            <a:br/>
            <a:r>
              <a:rPr sz="700" b="0">
                <a:solidFill>
                  <a:srgbClr val="5B6F7D"/>
                </a:solidFill>
                <a:latin typeface="Microsoft YaHei"/>
              </a:rPr>
              <a:t>O 1 groups</a:t>
            </a:r>
            <a:br/>
            <a:r>
              <a:rPr sz="700" b="0">
                <a:solidFill>
                  <a:srgbClr val="5B6F7D"/>
                </a:solidFill>
                <a:latin typeface="Microsoft YaHei"/>
              </a:rPr>
              <a:t>每卡 / rank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" y="2834639"/>
            <a:ext cx="11686032" cy="274320"/>
          </a:xfrm>
          <a:prstGeom prst="rect">
            <a:avLst/>
          </a:prstGeom>
          <a:solidFill>
            <a:srgbClr val="EAF2F5"/>
          </a:solidFill>
          <a:ln w="889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56032" y="2834639"/>
            <a:ext cx="68580" cy="274320"/>
          </a:xfrm>
          <a:prstGeom prst="rect">
            <a:avLst/>
          </a:prstGeom>
          <a:solidFill>
            <a:srgbClr val="2E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2336" y="2866644"/>
            <a:ext cx="1965960" cy="21031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E72B6"/>
                </a:solidFill>
                <a:latin typeface="Microsoft YaHei"/>
              </a:rPr>
              <a:t>ratio=4 Attention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04872" y="2875787"/>
            <a:ext cx="938174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F7D"/>
                </a:solidFill>
                <a:latin typeface="Microsoft YaHei"/>
              </a:rPr>
              <a:t>单个短压缩层：含 ratio-4 Indexer 与 Top-K=512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56032" y="3108959"/>
            <a:ext cx="749808" cy="658368"/>
          </a:xfrm>
          <a:prstGeom prst="rect">
            <a:avLst/>
          </a:prstGeom>
          <a:solidFill>
            <a:srgbClr val="EAF2F5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9184" y="3163823"/>
            <a:ext cx="603503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8C99"/>
                </a:solidFill>
                <a:latin typeface="Arial"/>
              </a:rPr>
              <a:t>TP1</a:t>
            </a:r>
            <a:br/>
            <a:r>
              <a:rPr sz="900" b="1">
                <a:solidFill>
                  <a:srgbClr val="008C99"/>
                </a:solidFill>
                <a:latin typeface="Arial"/>
              </a:rPr>
              <a:t>每卡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5840" y="3108959"/>
            <a:ext cx="329184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8992" y="3163823"/>
            <a:ext cx="314553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111111"/>
                </a:solidFill>
                <a:latin typeface="Microsoft YaHei"/>
              </a:rPr>
              <a:t>合计 126.097M logical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Core 106.955M · Comp 8.393M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Indexer 10.749M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存储 0.191 GB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97680" y="3108959"/>
            <a:ext cx="1481328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70832" y="3163823"/>
            <a:ext cx="133502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111111"/>
                </a:solidFill>
                <a:latin typeface="Microsoft YaHei"/>
              </a:rPr>
              <a:t>主 KV 0.002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Indexer 0.001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State 0.000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合计 0.003 GB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79008" y="3108959"/>
            <a:ext cx="2322576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52160" y="3163823"/>
            <a:ext cx="217627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11111"/>
                </a:solidFill>
                <a:latin typeface="Microsoft YaHei"/>
              </a:rPr>
              <a:t>主投影：FP8 E4M3 + E8M0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wo_a / Q / KV / attn：BF16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Norm / Sink / Compressor：FP32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Indexer：FP8 / BF16 / FP32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01583" y="3108959"/>
            <a:ext cx="228600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74736" y="3163823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11111"/>
                </a:solidFill>
                <a:latin typeface="Microsoft YaHei"/>
              </a:rPr>
              <a:t>总计 2.821 TFLOPs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Proj 1.752 TFLOPs · QK+AV 0.617 TFLOPs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Indexer 0.313 TFLOPs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Compressor 0.137 TFLOPs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387584" y="3108959"/>
            <a:ext cx="155448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460736" y="3163823"/>
            <a:ext cx="140817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F7D"/>
                </a:solidFill>
                <a:latin typeface="Microsoft YaHei"/>
              </a:rPr>
              <a:t>Q 64 heads</a:t>
            </a:r>
            <a:br/>
            <a:r>
              <a:rPr sz="700" b="0">
                <a:solidFill>
                  <a:srgbClr val="5B6F7D"/>
                </a:solidFill>
                <a:latin typeface="Microsoft YaHei"/>
              </a:rPr>
              <a:t>O 8 groups</a:t>
            </a:r>
            <a:br/>
            <a:r>
              <a:rPr sz="700" b="0">
                <a:solidFill>
                  <a:srgbClr val="5B6F7D"/>
                </a:solidFill>
                <a:latin typeface="Microsoft YaHei"/>
              </a:rPr>
              <a:t>每卡 / rank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56032" y="3767327"/>
            <a:ext cx="749808" cy="658368"/>
          </a:xfrm>
          <a:prstGeom prst="rect">
            <a:avLst/>
          </a:prstGeom>
          <a:solidFill>
            <a:srgbClr val="EAF2F5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9184" y="3822191"/>
            <a:ext cx="603503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72B6"/>
                </a:solidFill>
                <a:latin typeface="Arial"/>
              </a:rPr>
              <a:t>TP8</a:t>
            </a:r>
            <a:br/>
            <a:r>
              <a:rPr sz="900" b="1">
                <a:solidFill>
                  <a:srgbClr val="2E72B6"/>
                </a:solidFill>
                <a:latin typeface="Arial"/>
              </a:rPr>
              <a:t>每卡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05840" y="3767327"/>
            <a:ext cx="329184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78992" y="3822191"/>
            <a:ext cx="314553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111111"/>
                </a:solidFill>
                <a:latin typeface="Microsoft YaHei"/>
              </a:rPr>
              <a:t>合计 30.447M logical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Core 18.874M · Comp 8.393M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Indexer 3.180M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存储 0.066 GB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97680" y="3767327"/>
            <a:ext cx="1481328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70832" y="3822191"/>
            <a:ext cx="133502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111111"/>
                </a:solidFill>
                <a:latin typeface="Microsoft YaHei"/>
              </a:rPr>
              <a:t>主 KV 0.002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Indexer 0.001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State 0.000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合计 0.003 GB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779008" y="3767327"/>
            <a:ext cx="2322576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852160" y="3822191"/>
            <a:ext cx="217627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11111"/>
                </a:solidFill>
                <a:latin typeface="Microsoft YaHei"/>
              </a:rPr>
              <a:t>主投影：FP8 E4M3 + E8M0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wo_a / Q / KV / attn：BF16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Norm / Sink / Compressor：FP32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Indexer：FP8 / BF16 / FP32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01583" y="3767327"/>
            <a:ext cx="228600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174736" y="3822191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11111"/>
                </a:solidFill>
                <a:latin typeface="Microsoft YaHei"/>
              </a:rPr>
              <a:t>总计 0.670 TFLOPs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Proj 0.309 TFLOPs · QK+AV 0.154 TFLOPs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Indexer 0.069 TFLOPs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Compressor 0.137 TFLOPs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387584" y="3767327"/>
            <a:ext cx="155448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460736" y="3822191"/>
            <a:ext cx="140817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F7D"/>
                </a:solidFill>
                <a:latin typeface="Microsoft YaHei"/>
              </a:rPr>
              <a:t>Q 8 heads</a:t>
            </a:r>
            <a:br/>
            <a:r>
              <a:rPr sz="700" b="0">
                <a:solidFill>
                  <a:srgbClr val="5B6F7D"/>
                </a:solidFill>
                <a:latin typeface="Microsoft YaHei"/>
              </a:rPr>
              <a:t>O 1 groups</a:t>
            </a:r>
            <a:br/>
            <a:r>
              <a:rPr sz="700" b="0">
                <a:solidFill>
                  <a:srgbClr val="5B6F7D"/>
                </a:solidFill>
                <a:latin typeface="Microsoft YaHei"/>
              </a:rPr>
              <a:t>每卡 / rank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56032" y="4425695"/>
            <a:ext cx="11686032" cy="274320"/>
          </a:xfrm>
          <a:prstGeom prst="rect">
            <a:avLst/>
          </a:prstGeom>
          <a:solidFill>
            <a:srgbClr val="EAF2F5"/>
          </a:solidFill>
          <a:ln w="889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56032" y="4425695"/>
            <a:ext cx="68580" cy="274320"/>
          </a:xfrm>
          <a:prstGeom prst="rect">
            <a:avLst/>
          </a:prstGeom>
          <a:solidFill>
            <a:srgbClr val="B7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02336" y="4457699"/>
            <a:ext cx="1965960" cy="21031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B76700"/>
                </a:solidFill>
                <a:latin typeface="Microsoft YaHei"/>
              </a:rPr>
              <a:t>ratio=8 Attention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404872" y="4466843"/>
            <a:ext cx="938174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F7D"/>
                </a:solidFill>
                <a:latin typeface="Microsoft YaHei"/>
              </a:rPr>
              <a:t>单个长压缩层：公式对比场景，原生模型未启用 ratio=8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56032" y="4700015"/>
            <a:ext cx="749808" cy="658368"/>
          </a:xfrm>
          <a:prstGeom prst="rect">
            <a:avLst/>
          </a:prstGeom>
          <a:solidFill>
            <a:srgbClr val="EAF2F5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29184" y="4754879"/>
            <a:ext cx="603503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8C99"/>
                </a:solidFill>
                <a:latin typeface="Arial"/>
              </a:rPr>
              <a:t>TP1</a:t>
            </a:r>
            <a:br/>
            <a:r>
              <a:rPr sz="900" b="1">
                <a:solidFill>
                  <a:srgbClr val="008C99"/>
                </a:solidFill>
                <a:latin typeface="Arial"/>
              </a:rPr>
              <a:t>每卡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05840" y="4700015"/>
            <a:ext cx="329184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78992" y="4754879"/>
            <a:ext cx="314553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111111"/>
                </a:solidFill>
                <a:latin typeface="Microsoft YaHei"/>
              </a:rPr>
              <a:t>合计 111.154M logical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Core 106.955M · Comp 4.199M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Indexer 0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存储 0.157 GB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297680" y="4700015"/>
            <a:ext cx="1481328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370832" y="4754879"/>
            <a:ext cx="133502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111111"/>
                </a:solidFill>
                <a:latin typeface="Microsoft YaHei"/>
              </a:rPr>
              <a:t>主 KV 0.001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Indexer 0.000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State 0.000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合计 0.001 GB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779008" y="4700015"/>
            <a:ext cx="2322576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852160" y="4754879"/>
            <a:ext cx="217627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11111"/>
                </a:solidFill>
                <a:latin typeface="Microsoft YaHei"/>
              </a:rPr>
              <a:t>主投影：FP8 E4M3 + E8M0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wo_a / Q / KV / attn：BF16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Norm / Compressor：FP32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Indexer：无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101583" y="4700015"/>
            <a:ext cx="228600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174736" y="4754879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11111"/>
                </a:solidFill>
                <a:latin typeface="Microsoft YaHei"/>
              </a:rPr>
              <a:t>总计 2.507 TFLOPs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Proj 1.752 TFLOPs · QK+AV 0.686 TFLOPs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Compressor 0.069 TFLOPs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387584" y="4700015"/>
            <a:ext cx="155448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460736" y="4754879"/>
            <a:ext cx="140817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F7D"/>
                </a:solidFill>
                <a:latin typeface="Microsoft YaHei"/>
              </a:rPr>
              <a:t>Q 64 heads</a:t>
            </a:r>
            <a:br/>
            <a:r>
              <a:rPr sz="700" b="0">
                <a:solidFill>
                  <a:srgbClr val="5B6F7D"/>
                </a:solidFill>
                <a:latin typeface="Microsoft YaHei"/>
              </a:rPr>
              <a:t>O 8 groups</a:t>
            </a:r>
            <a:br/>
            <a:r>
              <a:rPr sz="700" b="0">
                <a:solidFill>
                  <a:srgbClr val="5B6F7D"/>
                </a:solidFill>
                <a:latin typeface="Microsoft YaHei"/>
              </a:rPr>
              <a:t>每卡 / rank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56032" y="5358383"/>
            <a:ext cx="749808" cy="658368"/>
          </a:xfrm>
          <a:prstGeom prst="rect">
            <a:avLst/>
          </a:prstGeom>
          <a:solidFill>
            <a:srgbClr val="EAF2F5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29184" y="5413247"/>
            <a:ext cx="603503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72B6"/>
                </a:solidFill>
                <a:latin typeface="Arial"/>
              </a:rPr>
              <a:t>TP8</a:t>
            </a:r>
            <a:br/>
            <a:r>
              <a:rPr sz="900" b="1">
                <a:solidFill>
                  <a:srgbClr val="2E72B6"/>
                </a:solidFill>
                <a:latin typeface="Arial"/>
              </a:rPr>
              <a:t>每卡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05840" y="5358383"/>
            <a:ext cx="329184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78992" y="5413247"/>
            <a:ext cx="314553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111111"/>
                </a:solidFill>
                <a:latin typeface="Microsoft YaHei"/>
              </a:rPr>
              <a:t>合计 23.073M logical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Core 18.874M · Comp 4.199M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Indexer 0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存储 0.040 GB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297680" y="5358383"/>
            <a:ext cx="1481328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370832" y="5413247"/>
            <a:ext cx="133502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111111"/>
                </a:solidFill>
                <a:latin typeface="Microsoft YaHei"/>
              </a:rPr>
              <a:t>主 KV 0.001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Indexer 0.000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State 0.000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合计 0.001 GB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779008" y="5358383"/>
            <a:ext cx="2322576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852160" y="5413247"/>
            <a:ext cx="217627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11111"/>
                </a:solidFill>
                <a:latin typeface="Microsoft YaHei"/>
              </a:rPr>
              <a:t>主投影：FP8 E4M3 + E8M0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wo_a / Q / KV / attn：BF16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Norm / Compressor：FP32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Indexer：无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101583" y="5358383"/>
            <a:ext cx="228600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174736" y="5413247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11111"/>
                </a:solidFill>
                <a:latin typeface="Microsoft YaHei"/>
              </a:rPr>
              <a:t>总计 0.549 TFLOPs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Proj 0.309 TFLOPs · QK+AV 0.171 TFLOPs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Compressor 0.069 TFLOPs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387584" y="5358383"/>
            <a:ext cx="155448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460736" y="5413247"/>
            <a:ext cx="140817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F7D"/>
                </a:solidFill>
                <a:latin typeface="Microsoft YaHei"/>
              </a:rPr>
              <a:t>Q 8 heads</a:t>
            </a:r>
            <a:br/>
            <a:r>
              <a:rPr sz="700" b="0">
                <a:solidFill>
                  <a:srgbClr val="5B6F7D"/>
                </a:solidFill>
                <a:latin typeface="Microsoft YaHei"/>
              </a:rPr>
              <a:t>O 1 groups</a:t>
            </a:r>
            <a:br/>
            <a:r>
              <a:rPr sz="700" b="0">
                <a:solidFill>
                  <a:srgbClr val="5B6F7D"/>
                </a:solidFill>
                <a:latin typeface="Microsoft YaHei"/>
              </a:rPr>
              <a:t>每卡 / rank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29184" y="6245352"/>
            <a:ext cx="113842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5B6F7D"/>
                </a:solidFill>
                <a:latin typeface="Microsoft YaHei"/>
              </a:rPr>
              <a:t>KV Cache 为有效驻留容量：主 KV + Indexer cache + Compressor state；GB=10^9 bytes。ratio=8 是公式对比假设，原生长压缩配置为 ratio=128。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29184" y="6547104"/>
            <a:ext cx="1138428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B6F7D"/>
                </a:solidFill>
                <a:latin typeface="Consolas"/>
              </a:rPr>
              <a:t>MAC=2 FLOPs · Attention major 口径 · source: inference/model.py / calculate/generate_calculator.py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0896" y="109728"/>
            <a:ext cx="8915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C00000"/>
                </a:solidFill>
                <a:latin typeface="Microsoft YaHei"/>
              </a:rPr>
              <a:t>Attention 参数、KV Cache 与算力汇总 · Decode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91472" y="118872"/>
            <a:ext cx="2350008" cy="292608"/>
          </a:xfrm>
          <a:prstGeom prst="roundRect">
            <a:avLst/>
          </a:prstGeom>
          <a:solidFill>
            <a:srgbClr val="EAF2F5"/>
          </a:solidFill>
          <a:ln w="10160">
            <a:solidFill>
              <a:srgbClr val="2E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82912" y="182880"/>
            <a:ext cx="2167128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2E72B6"/>
                </a:solidFill>
                <a:latin typeface="Consolas"/>
              </a:rPr>
              <a:t>B=1 · 1 token · C=1,048,576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512064"/>
            <a:ext cx="882396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55555"/>
                </a:solidFill>
                <a:latin typeface="Microsoft YaHei"/>
              </a:rPr>
              <a:t>三段同一张表：整网原生层级 / ratio=4 单层 / ratio=8 对比单层；每段垂直拆分 TP1、TP8 每卡状态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1432" y="512064"/>
            <a:ext cx="2670048" cy="1737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5B6F7D"/>
                </a:solidFill>
                <a:latin typeface="Consolas"/>
              </a:rPr>
              <a:t>D=4096 · H=64 · d=512 · q=1024 · G=8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877824"/>
            <a:ext cx="11686032" cy="5138928"/>
          </a:xfrm>
          <a:prstGeom prst="rect">
            <a:avLst/>
          </a:prstGeom>
          <a:solidFill>
            <a:srgbClr val="FFFFFF"/>
          </a:solidFill>
          <a:ln w="1143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877824"/>
            <a:ext cx="749808" cy="365760"/>
          </a:xfrm>
          <a:prstGeom prst="rect">
            <a:avLst/>
          </a:prstGeom>
          <a:solidFill>
            <a:srgbClr val="142C3A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932688"/>
            <a:ext cx="603503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5B6F7D"/>
                </a:solidFill>
                <a:latin typeface="Microsoft YaHei"/>
              </a:rPr>
              <a:t>TP / 每卡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877824"/>
            <a:ext cx="3291840" cy="365760"/>
          </a:xfrm>
          <a:prstGeom prst="rect">
            <a:avLst/>
          </a:prstGeom>
          <a:solidFill>
            <a:srgbClr val="142C3A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932688"/>
            <a:ext cx="31455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5B6F7D"/>
                </a:solidFill>
                <a:latin typeface="Microsoft YaHei"/>
              </a:rPr>
              <a:t>Attention 算子参数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877824"/>
            <a:ext cx="1481328" cy="365760"/>
          </a:xfrm>
          <a:prstGeom prst="rect">
            <a:avLst/>
          </a:prstGeom>
          <a:solidFill>
            <a:srgbClr val="142C3A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2" y="932688"/>
            <a:ext cx="133502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5B6F7D"/>
                </a:solidFill>
                <a:latin typeface="Microsoft YaHei"/>
              </a:rPr>
              <a:t>KV Cache 容量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79008" y="877824"/>
            <a:ext cx="2322576" cy="365760"/>
          </a:xfrm>
          <a:prstGeom prst="rect">
            <a:avLst/>
          </a:prstGeom>
          <a:solidFill>
            <a:srgbClr val="142C3A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932688"/>
            <a:ext cx="2176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5B6F7D"/>
                </a:solidFill>
                <a:latin typeface="Microsoft YaHei"/>
              </a:rPr>
              <a:t>数据类型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1583" y="877824"/>
            <a:ext cx="2286000" cy="365760"/>
          </a:xfrm>
          <a:prstGeom prst="rect">
            <a:avLst/>
          </a:prstGeom>
          <a:solidFill>
            <a:srgbClr val="142C3A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932688"/>
            <a:ext cx="21396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5B6F7D"/>
                </a:solidFill>
                <a:latin typeface="Microsoft YaHei"/>
              </a:rPr>
              <a:t>计算量 / 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87584" y="877824"/>
            <a:ext cx="1554480" cy="365760"/>
          </a:xfrm>
          <a:prstGeom prst="rect">
            <a:avLst/>
          </a:prstGeom>
          <a:solidFill>
            <a:srgbClr val="142C3A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60736" y="932688"/>
            <a:ext cx="140817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5B6F7D"/>
                </a:solidFill>
                <a:latin typeface="Microsoft YaHei"/>
              </a:rPr>
              <a:t>分片状态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" y="1243584"/>
            <a:ext cx="11686032" cy="274320"/>
          </a:xfrm>
          <a:prstGeom prst="rect">
            <a:avLst/>
          </a:prstGeom>
          <a:solidFill>
            <a:srgbClr val="EAF2F5"/>
          </a:solidFill>
          <a:ln w="889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6032" y="1243584"/>
            <a:ext cx="68580" cy="274320"/>
          </a:xfrm>
          <a:prstGeom prst="rect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" y="1275587"/>
            <a:ext cx="1965960" cy="21031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008C99"/>
                </a:solidFill>
                <a:latin typeface="Microsoft YaHei"/>
              </a:rPr>
              <a:t>整网 Attention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04872" y="1284731"/>
            <a:ext cx="938174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F7D"/>
                </a:solidFill>
                <a:latin typeface="Microsoft YaHei"/>
              </a:rPr>
              <a:t>原生 43 层：window×2 + ratio=4×21 + ratio=128×20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" y="1517904"/>
            <a:ext cx="749808" cy="658368"/>
          </a:xfrm>
          <a:prstGeom prst="rect">
            <a:avLst/>
          </a:prstGeom>
          <a:solidFill>
            <a:srgbClr val="EAF2F5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1572768"/>
            <a:ext cx="603503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8C99"/>
                </a:solidFill>
                <a:latin typeface="Arial"/>
              </a:rPr>
              <a:t>TP1</a:t>
            </a:r>
            <a:br/>
            <a:r>
              <a:rPr sz="900" b="1">
                <a:solidFill>
                  <a:srgbClr val="008C99"/>
                </a:solidFill>
                <a:latin typeface="Arial"/>
              </a:rPr>
              <a:t>每卡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1517904"/>
            <a:ext cx="329184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1572768"/>
            <a:ext cx="314553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111111"/>
                </a:solidFill>
                <a:latin typeface="Microsoft YaHei"/>
              </a:rPr>
              <a:t>合计 5.086B logical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Core 4.599B · Comp 261.465M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Indexer 225.730M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存储 7.451 GB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1517904"/>
            <a:ext cx="1481328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2" y="1572768"/>
            <a:ext cx="133502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111111"/>
                </a:solidFill>
                <a:latin typeface="Microsoft YaHei"/>
              </a:rPr>
              <a:t>主 KV 5.811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Indexer 1.409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State 0.012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合计 7.232 GB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79008" y="1517904"/>
            <a:ext cx="2322576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0" y="1572768"/>
            <a:ext cx="217627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11111"/>
                </a:solidFill>
                <a:latin typeface="Microsoft YaHei"/>
              </a:rPr>
              <a:t>主投影：FP8 E4M3 + E8M0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wo_a / Q / KV / attn：BF16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Norm / Sink：FP32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含 ratio-4 Indexer：FP8 / BF16 / FP32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01583" y="1517904"/>
            <a:ext cx="228600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74736" y="1572768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11111"/>
                </a:solidFill>
                <a:latin typeface="Microsoft YaHei"/>
              </a:rPr>
              <a:t>总计 123.969 GFLOPs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Proj 9.198 GFLOPs · QK+AV 23.606 GFLOPs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Indexer 90.646 GFLOPs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Compressor 0.520 GFLOPs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87584" y="1517904"/>
            <a:ext cx="155448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60736" y="1572768"/>
            <a:ext cx="140817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F7D"/>
                </a:solidFill>
                <a:latin typeface="Microsoft YaHei"/>
              </a:rPr>
              <a:t>Q 64 heads</a:t>
            </a:r>
            <a:br/>
            <a:r>
              <a:rPr sz="700" b="0">
                <a:solidFill>
                  <a:srgbClr val="5B6F7D"/>
                </a:solidFill>
                <a:latin typeface="Microsoft YaHei"/>
              </a:rPr>
              <a:t>O 8 groups</a:t>
            </a:r>
            <a:br/>
            <a:r>
              <a:rPr sz="700" b="0">
                <a:solidFill>
                  <a:srgbClr val="5B6F7D"/>
                </a:solidFill>
                <a:latin typeface="Microsoft YaHei"/>
              </a:rPr>
              <a:t>每卡 / rank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" y="2176272"/>
            <a:ext cx="749808" cy="658368"/>
          </a:xfrm>
          <a:prstGeom prst="rect">
            <a:avLst/>
          </a:prstGeom>
          <a:solidFill>
            <a:srgbClr val="EAF2F5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" y="2231136"/>
            <a:ext cx="603503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72B6"/>
                </a:solidFill>
                <a:latin typeface="Arial"/>
              </a:rPr>
              <a:t>TP8</a:t>
            </a:r>
            <a:br/>
            <a:r>
              <a:rPr sz="900" b="1">
                <a:solidFill>
                  <a:srgbClr val="2E72B6"/>
                </a:solidFill>
                <a:latin typeface="Arial"/>
              </a:rPr>
              <a:t>每卡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" y="2176272"/>
            <a:ext cx="329184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8992" y="2231136"/>
            <a:ext cx="314553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111111"/>
                </a:solidFill>
                <a:latin typeface="Microsoft YaHei"/>
              </a:rPr>
              <a:t>合计 1.140B logical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Core 811.598M · Comp 261.465M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Indexer 66.773M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存储 2.238 GB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80" y="2176272"/>
            <a:ext cx="1481328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70832" y="2231136"/>
            <a:ext cx="133502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111111"/>
                </a:solidFill>
                <a:latin typeface="Microsoft YaHei"/>
              </a:rPr>
              <a:t>主 KV 5.811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Indexer 1.409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State 0.012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合计 7.232 GB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79008" y="2176272"/>
            <a:ext cx="2322576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2160" y="2231136"/>
            <a:ext cx="217627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11111"/>
                </a:solidFill>
                <a:latin typeface="Microsoft YaHei"/>
              </a:rPr>
              <a:t>主投影：FP8 E4M3 + E8M0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wo_a / Q / KV / attn：BF16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Norm / Sink：FP32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含 ratio-4 Indexer：FP8 / BF16 / FP32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01583" y="2176272"/>
            <a:ext cx="228600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74736" y="2231136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11111"/>
                </a:solidFill>
                <a:latin typeface="Microsoft YaHei"/>
              </a:rPr>
              <a:t>总计 19.452 GFLOPs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Proj 1.623 GFLOPs · QK+AV 5.901 GFLOPs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Indexer 11.408 GFLOPs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Compressor 0.520 GFLOPs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387584" y="2176272"/>
            <a:ext cx="155448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460736" y="2231136"/>
            <a:ext cx="140817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F7D"/>
                </a:solidFill>
                <a:latin typeface="Microsoft YaHei"/>
              </a:rPr>
              <a:t>Q 8 heads</a:t>
            </a:r>
            <a:br/>
            <a:r>
              <a:rPr sz="700" b="0">
                <a:solidFill>
                  <a:srgbClr val="5B6F7D"/>
                </a:solidFill>
                <a:latin typeface="Microsoft YaHei"/>
              </a:rPr>
              <a:t>O 1 groups</a:t>
            </a:r>
            <a:br/>
            <a:r>
              <a:rPr sz="700" b="0">
                <a:solidFill>
                  <a:srgbClr val="5B6F7D"/>
                </a:solidFill>
                <a:latin typeface="Microsoft YaHei"/>
              </a:rPr>
              <a:t>每卡 / rank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" y="2834639"/>
            <a:ext cx="11686032" cy="274320"/>
          </a:xfrm>
          <a:prstGeom prst="rect">
            <a:avLst/>
          </a:prstGeom>
          <a:solidFill>
            <a:srgbClr val="EAF2F5"/>
          </a:solidFill>
          <a:ln w="889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56032" y="2834639"/>
            <a:ext cx="68580" cy="274320"/>
          </a:xfrm>
          <a:prstGeom prst="rect">
            <a:avLst/>
          </a:prstGeom>
          <a:solidFill>
            <a:srgbClr val="2E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2336" y="2866644"/>
            <a:ext cx="1965960" cy="21031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E72B6"/>
                </a:solidFill>
                <a:latin typeface="Microsoft YaHei"/>
              </a:rPr>
              <a:t>ratio=4 Attention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04872" y="2875787"/>
            <a:ext cx="938174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F7D"/>
                </a:solidFill>
                <a:latin typeface="Microsoft YaHei"/>
              </a:rPr>
              <a:t>单个短压缩层：含 ratio-4 Indexer 与 Top-K=512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56032" y="3108959"/>
            <a:ext cx="749808" cy="658368"/>
          </a:xfrm>
          <a:prstGeom prst="rect">
            <a:avLst/>
          </a:prstGeom>
          <a:solidFill>
            <a:srgbClr val="EAF2F5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9184" y="3163823"/>
            <a:ext cx="603503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8C99"/>
                </a:solidFill>
                <a:latin typeface="Arial"/>
              </a:rPr>
              <a:t>TP1</a:t>
            </a:r>
            <a:br/>
            <a:r>
              <a:rPr sz="900" b="1">
                <a:solidFill>
                  <a:srgbClr val="008C99"/>
                </a:solidFill>
                <a:latin typeface="Arial"/>
              </a:rPr>
              <a:t>每卡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5840" y="3108959"/>
            <a:ext cx="329184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8992" y="3163823"/>
            <a:ext cx="314553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111111"/>
                </a:solidFill>
                <a:latin typeface="Microsoft YaHei"/>
              </a:rPr>
              <a:t>合计 126.097M logical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Core 106.955M · Comp 8.393M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Indexer 10.749M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存储 0.191 GB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97680" y="3108959"/>
            <a:ext cx="1481328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70832" y="3163823"/>
            <a:ext cx="133502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111111"/>
                </a:solidFill>
                <a:latin typeface="Microsoft YaHei"/>
              </a:rPr>
              <a:t>主 KV 0.269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Indexer 0.067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State 0.000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合计 0.336 GB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79008" y="3108959"/>
            <a:ext cx="2322576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52160" y="3163823"/>
            <a:ext cx="217627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11111"/>
                </a:solidFill>
                <a:latin typeface="Microsoft YaHei"/>
              </a:rPr>
              <a:t>主投影：FP8 E4M3 + E8M0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wo_a / Q / KV / attn：BF16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Norm / Sink / Compressor：FP32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Indexer：FP8 / BF16 / FP32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01583" y="3108959"/>
            <a:ext cx="228600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74736" y="3163823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11111"/>
                </a:solidFill>
                <a:latin typeface="Microsoft YaHei"/>
              </a:rPr>
              <a:t>总计 4.631 GFLOPs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Proj 0.214 GFLOPs · QK+AV 0.084 GFLOPs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Indexer 4.316 GFLOPs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Compressor 0.017 GFLOPs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387584" y="3108959"/>
            <a:ext cx="155448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460736" y="3163823"/>
            <a:ext cx="140817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F7D"/>
                </a:solidFill>
                <a:latin typeface="Microsoft YaHei"/>
              </a:rPr>
              <a:t>Q 64 heads</a:t>
            </a:r>
            <a:br/>
            <a:r>
              <a:rPr sz="700" b="0">
                <a:solidFill>
                  <a:srgbClr val="5B6F7D"/>
                </a:solidFill>
                <a:latin typeface="Microsoft YaHei"/>
              </a:rPr>
              <a:t>O 8 groups</a:t>
            </a:r>
            <a:br/>
            <a:r>
              <a:rPr sz="700" b="0">
                <a:solidFill>
                  <a:srgbClr val="5B6F7D"/>
                </a:solidFill>
                <a:latin typeface="Microsoft YaHei"/>
              </a:rPr>
              <a:t>每卡 / rank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56032" y="3767327"/>
            <a:ext cx="749808" cy="658368"/>
          </a:xfrm>
          <a:prstGeom prst="rect">
            <a:avLst/>
          </a:prstGeom>
          <a:solidFill>
            <a:srgbClr val="EAF2F5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9184" y="3822191"/>
            <a:ext cx="603503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72B6"/>
                </a:solidFill>
                <a:latin typeface="Arial"/>
              </a:rPr>
              <a:t>TP8</a:t>
            </a:r>
            <a:br/>
            <a:r>
              <a:rPr sz="900" b="1">
                <a:solidFill>
                  <a:srgbClr val="2E72B6"/>
                </a:solidFill>
                <a:latin typeface="Arial"/>
              </a:rPr>
              <a:t>每卡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05840" y="3767327"/>
            <a:ext cx="329184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78992" y="3822191"/>
            <a:ext cx="314553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111111"/>
                </a:solidFill>
                <a:latin typeface="Microsoft YaHei"/>
              </a:rPr>
              <a:t>合计 30.447M logical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Core 18.874M · Comp 8.393M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Indexer 3.180M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存储 0.066 GB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97680" y="3767327"/>
            <a:ext cx="1481328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70832" y="3822191"/>
            <a:ext cx="133502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111111"/>
                </a:solidFill>
                <a:latin typeface="Microsoft YaHei"/>
              </a:rPr>
              <a:t>主 KV 0.269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Indexer 0.067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State 0.000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合计 0.336 GB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779008" y="3767327"/>
            <a:ext cx="2322576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852160" y="3822191"/>
            <a:ext cx="217627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11111"/>
                </a:solidFill>
                <a:latin typeface="Microsoft YaHei"/>
              </a:rPr>
              <a:t>主投影：FP8 E4M3 + E8M0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wo_a / Q / KV / attn：BF16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Norm / Sink / Compressor：FP32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Indexer：FP8 / BF16 / FP32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01583" y="3767327"/>
            <a:ext cx="228600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174736" y="3822191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11111"/>
                </a:solidFill>
                <a:latin typeface="Microsoft YaHei"/>
              </a:rPr>
              <a:t>总计 0.619 GFLOPs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Proj 0.038 GFLOPs · QK+AV 0.021 GFLOPs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Indexer 0.543 GFLOPs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Compressor 0.017 GFLOPs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387584" y="3767327"/>
            <a:ext cx="155448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460736" y="3822191"/>
            <a:ext cx="140817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F7D"/>
                </a:solidFill>
                <a:latin typeface="Microsoft YaHei"/>
              </a:rPr>
              <a:t>Q 8 heads</a:t>
            </a:r>
            <a:br/>
            <a:r>
              <a:rPr sz="700" b="0">
                <a:solidFill>
                  <a:srgbClr val="5B6F7D"/>
                </a:solidFill>
                <a:latin typeface="Microsoft YaHei"/>
              </a:rPr>
              <a:t>O 1 groups</a:t>
            </a:r>
            <a:br/>
            <a:r>
              <a:rPr sz="700" b="0">
                <a:solidFill>
                  <a:srgbClr val="5B6F7D"/>
                </a:solidFill>
                <a:latin typeface="Microsoft YaHei"/>
              </a:rPr>
              <a:t>每卡 / rank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56032" y="4425695"/>
            <a:ext cx="11686032" cy="274320"/>
          </a:xfrm>
          <a:prstGeom prst="rect">
            <a:avLst/>
          </a:prstGeom>
          <a:solidFill>
            <a:srgbClr val="EAF2F5"/>
          </a:solidFill>
          <a:ln w="889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56032" y="4425695"/>
            <a:ext cx="68580" cy="274320"/>
          </a:xfrm>
          <a:prstGeom prst="rect">
            <a:avLst/>
          </a:prstGeom>
          <a:solidFill>
            <a:srgbClr val="B7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02336" y="4457699"/>
            <a:ext cx="1965960" cy="21031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B76700"/>
                </a:solidFill>
                <a:latin typeface="Microsoft YaHei"/>
              </a:rPr>
              <a:t>ratio=8 Attention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404872" y="4466843"/>
            <a:ext cx="938174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F7D"/>
                </a:solidFill>
                <a:latin typeface="Microsoft YaHei"/>
              </a:rPr>
              <a:t>单个长压缩层：公式对比场景，原生模型未启用 ratio=8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56032" y="4700015"/>
            <a:ext cx="749808" cy="658368"/>
          </a:xfrm>
          <a:prstGeom prst="rect">
            <a:avLst/>
          </a:prstGeom>
          <a:solidFill>
            <a:srgbClr val="EAF2F5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29184" y="4754879"/>
            <a:ext cx="603503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8C99"/>
                </a:solidFill>
                <a:latin typeface="Arial"/>
              </a:rPr>
              <a:t>TP1</a:t>
            </a:r>
            <a:br/>
            <a:r>
              <a:rPr sz="900" b="1">
                <a:solidFill>
                  <a:srgbClr val="008C99"/>
                </a:solidFill>
                <a:latin typeface="Arial"/>
              </a:rPr>
              <a:t>每卡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05840" y="4700015"/>
            <a:ext cx="329184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78992" y="4754879"/>
            <a:ext cx="314553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111111"/>
                </a:solidFill>
                <a:latin typeface="Microsoft YaHei"/>
              </a:rPr>
              <a:t>合计 111.154M logical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Core 106.955M · Comp 4.199M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Indexer 0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存储 0.157 GB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297680" y="4700015"/>
            <a:ext cx="1481328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370832" y="4754879"/>
            <a:ext cx="133502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111111"/>
                </a:solidFill>
                <a:latin typeface="Microsoft YaHei"/>
              </a:rPr>
              <a:t>主 KV 0.134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Indexer 0.000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State 0.000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合计 0.134 GB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779008" y="4700015"/>
            <a:ext cx="2322576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852160" y="4754879"/>
            <a:ext cx="217627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11111"/>
                </a:solidFill>
                <a:latin typeface="Microsoft YaHei"/>
              </a:rPr>
              <a:t>主投影：FP8 E4M3 + E8M0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wo_a / Q / KV / attn：BF16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Norm / Compressor：FP32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Indexer：无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101583" y="4700015"/>
            <a:ext cx="228600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174736" y="4754879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11111"/>
                </a:solidFill>
                <a:latin typeface="Microsoft YaHei"/>
              </a:rPr>
              <a:t>总计 17.419 GFLOPs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Proj 0.214 GFLOPs · QK+AV 17.197 GFLOPs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Compressor 0.008 GFLOPs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387584" y="4700015"/>
            <a:ext cx="155448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460736" y="4754879"/>
            <a:ext cx="140817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F7D"/>
                </a:solidFill>
                <a:latin typeface="Microsoft YaHei"/>
              </a:rPr>
              <a:t>Q 64 heads</a:t>
            </a:r>
            <a:br/>
            <a:r>
              <a:rPr sz="700" b="0">
                <a:solidFill>
                  <a:srgbClr val="5B6F7D"/>
                </a:solidFill>
                <a:latin typeface="Microsoft YaHei"/>
              </a:rPr>
              <a:t>O 8 groups</a:t>
            </a:r>
            <a:br/>
            <a:r>
              <a:rPr sz="700" b="0">
                <a:solidFill>
                  <a:srgbClr val="5B6F7D"/>
                </a:solidFill>
                <a:latin typeface="Microsoft YaHei"/>
              </a:rPr>
              <a:t>每卡 / rank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56032" y="5358383"/>
            <a:ext cx="749808" cy="658368"/>
          </a:xfrm>
          <a:prstGeom prst="rect">
            <a:avLst/>
          </a:prstGeom>
          <a:solidFill>
            <a:srgbClr val="EAF2F5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29184" y="5413247"/>
            <a:ext cx="603503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72B6"/>
                </a:solidFill>
                <a:latin typeface="Arial"/>
              </a:rPr>
              <a:t>TP8</a:t>
            </a:r>
            <a:br/>
            <a:r>
              <a:rPr sz="900" b="1">
                <a:solidFill>
                  <a:srgbClr val="2E72B6"/>
                </a:solidFill>
                <a:latin typeface="Arial"/>
              </a:rPr>
              <a:t>每卡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05840" y="5358383"/>
            <a:ext cx="329184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78992" y="5413247"/>
            <a:ext cx="314553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111111"/>
                </a:solidFill>
                <a:latin typeface="Microsoft YaHei"/>
              </a:rPr>
              <a:t>合计 23.073M logical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Core 18.874M · Comp 4.199M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Indexer 0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存储 0.040 GB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297680" y="5358383"/>
            <a:ext cx="1481328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370832" y="5413247"/>
            <a:ext cx="133502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111111"/>
                </a:solidFill>
                <a:latin typeface="Microsoft YaHei"/>
              </a:rPr>
              <a:t>主 KV 0.134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Indexer 0.000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State 0.000 GB</a:t>
            </a:r>
            <a:br/>
            <a:r>
              <a:rPr sz="670" b="0">
                <a:solidFill>
                  <a:srgbClr val="111111"/>
                </a:solidFill>
                <a:latin typeface="Microsoft YaHei"/>
              </a:rPr>
              <a:t>合计 0.134 GB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779008" y="5358383"/>
            <a:ext cx="2322576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852160" y="5413247"/>
            <a:ext cx="217627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11111"/>
                </a:solidFill>
                <a:latin typeface="Microsoft YaHei"/>
              </a:rPr>
              <a:t>主投影：FP8 E4M3 + E8M0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wo_a / Q / KV / attn：BF16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Norm / Compressor：FP32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Indexer：无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101583" y="5358383"/>
            <a:ext cx="228600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174736" y="5413247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11111"/>
                </a:solidFill>
                <a:latin typeface="Microsoft YaHei"/>
              </a:rPr>
              <a:t>总计 4.345 GFLOPs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Proj 0.038 GFLOPs · QK+AV 4.299 GFLOPs</a:t>
            </a:r>
            <a:br/>
            <a:r>
              <a:rPr sz="655" b="0">
                <a:solidFill>
                  <a:srgbClr val="111111"/>
                </a:solidFill>
                <a:latin typeface="Microsoft YaHei"/>
              </a:rPr>
              <a:t>Compressor 0.008 GFLOPs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387584" y="5358383"/>
            <a:ext cx="155448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460736" y="5413247"/>
            <a:ext cx="140817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F7D"/>
                </a:solidFill>
                <a:latin typeface="Microsoft YaHei"/>
              </a:rPr>
              <a:t>Q 8 heads</a:t>
            </a:r>
            <a:br/>
            <a:r>
              <a:rPr sz="700" b="0">
                <a:solidFill>
                  <a:srgbClr val="5B6F7D"/>
                </a:solidFill>
                <a:latin typeface="Microsoft YaHei"/>
              </a:rPr>
              <a:t>O 1 groups</a:t>
            </a:r>
            <a:br/>
            <a:r>
              <a:rPr sz="700" b="0">
                <a:solidFill>
                  <a:srgbClr val="5B6F7D"/>
                </a:solidFill>
                <a:latin typeface="Microsoft YaHei"/>
              </a:rPr>
              <a:t>每卡 / rank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29184" y="6245352"/>
            <a:ext cx="113842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5B6F7D"/>
                </a:solidFill>
                <a:latin typeface="Microsoft YaHei"/>
              </a:rPr>
              <a:t>KV Cache 为有效驻留容量：主 KV + Indexer cache + Compressor state；GB=10^9 bytes。ratio=8 是公式对比假设，原生长压缩配置为 ratio=128。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29184" y="6547104"/>
            <a:ext cx="1138428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B6F7D"/>
                </a:solidFill>
                <a:latin typeface="Consolas"/>
              </a:rPr>
              <a:t>MAC=2 FLOPs · Attention major 口径 · source: inference/model.py / calculate/generate_calculator.py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DeepSeek V4 Flash Attention Prefill Decode Summary</dc:title>
  <dc:subject>TP1/TP8 per-card Attention parameters, KV cache, dtype, and FLOPs</dc:subject>
  <dc:creator>DeepSeek V4 Flash repository</dc:creator>
  <cp:keywords/>
  <dc:description>Editable two-slide summary generated from the repository calculator.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