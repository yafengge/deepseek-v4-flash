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11111"/>
                </a:solidFill>
                <a:latin typeface="Microsoft YaHei"/>
              </a:rPr>
              <a:t>WD3：Token 选专家后的多核执行（组队可选）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585216"/>
            <a:ext cx="109728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555555"/>
                </a:solidFill>
                <a:latin typeface="Microsoft YaHei"/>
              </a:rPr>
              <a:t>前提：每个 token 的 Top-K expert_id 与混合权重 α 已给定；流程从 dispatch 开始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59536"/>
            <a:ext cx="2057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" y="914400"/>
            <a:ext cx="17647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Microsoft YaHei"/>
              </a:rPr>
              <a:t>内存足够策略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" y="1115568"/>
            <a:ext cx="176479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11111"/>
                </a:solidFill>
                <a:latin typeface="Aptos"/>
              </a:rPr>
              <a:t>core r 固定持有 E_r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234439"/>
            <a:ext cx="1764792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55555"/>
                </a:solidFill>
                <a:latin typeface="Microsoft YaHei"/>
              </a:rPr>
              <a:t>专家参数 W_e 常驻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859536"/>
            <a:ext cx="6583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9504" y="914400"/>
            <a:ext cx="629107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Microsoft YaHei"/>
              </a:rPr>
              <a:t>输入（已知）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9504" y="1115568"/>
            <a:ext cx="62910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111111"/>
                </a:solidFill>
                <a:latin typeface="Aptos"/>
              </a:rPr>
              <a:t>X=[x_t]  ·  I=[e_t,k]  ·  A=[α_t,k]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9504" y="1234439"/>
            <a:ext cx="6291072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55555"/>
                </a:solidFill>
                <a:latin typeface="Microsoft YaHei"/>
              </a:rPr>
              <a:t>T 个 token；每个 token 已有 K 个 expert_id 与混合权重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46920" y="859536"/>
            <a:ext cx="2057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93224" y="914400"/>
            <a:ext cx="17647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Microsoft YaHei"/>
              </a:rPr>
              <a:t>内存不足策略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93224" y="1115568"/>
            <a:ext cx="176479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111111"/>
                </a:solidFill>
                <a:latin typeface="Aptos"/>
              </a:rPr>
              <a:t>U=unique({e_t,k})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3224" y="1234439"/>
            <a:ext cx="1764792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55555"/>
                </a:solidFill>
                <a:latin typeface="Microsoft YaHei"/>
              </a:rPr>
              <a:t>按当前批次动态加载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1600200"/>
            <a:ext cx="6583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9504" y="1655064"/>
            <a:ext cx="629107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11111"/>
                </a:solidFill>
                <a:latin typeface="Microsoft YaHei"/>
              </a:rPr>
              <a:t>每核确定本地专家集合，并准备专家参数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9504" y="1856232"/>
            <a:ext cx="62910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111111"/>
                </a:solidFill>
                <a:latin typeface="Aptos"/>
              </a:rPr>
              <a:t>E = ⋃_r E_r  ·  W_e={W1^e,W2^e,W3^e}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9504" y="1874519"/>
            <a:ext cx="6291072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55555"/>
                </a:solidFill>
                <a:latin typeface="Microsoft YaHei"/>
              </a:rPr>
              <a:t>A 是混合权重；W_e 是专家参数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258568"/>
            <a:ext cx="6583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9504" y="2313432"/>
            <a:ext cx="629107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>
                <a:solidFill>
                  <a:srgbClr val="111111"/>
                </a:solidFill>
                <a:latin typeface="Microsoft YaHei"/>
              </a:rPr>
              <a:t>Tokens + 全局路由表，广播给所有 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9504" y="2514600"/>
            <a:ext cx="62910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11111"/>
                </a:solidFill>
                <a:latin typeface="Aptos"/>
              </a:rPr>
              <a:t>R = {(t, e_t,k, α_t,k)}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9504" y="2532888"/>
            <a:ext cx="6291072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55555"/>
                </a:solidFill>
                <a:latin typeface="Microsoft YaHei"/>
              </a:rPr>
              <a:t>也可用 all-to-all，只发送给目标 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2916936"/>
            <a:ext cx="65836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9504" y="2971800"/>
            <a:ext cx="629107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>
                <a:solidFill>
                  <a:srgbClr val="111111"/>
                </a:solidFill>
                <a:latin typeface="Microsoft YaHei"/>
              </a:rPr>
              <a:t>按 expert_id 筛选、分桶，组成 Token 小队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9504" y="3172968"/>
            <a:ext cx="62910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111111"/>
                </a:solidFill>
                <a:latin typeface="Aptos"/>
              </a:rPr>
              <a:t>G_{r,e}={(t,x_t,α_t,k): e_t,k=e, e∈E_r}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9504" y="3310128"/>
            <a:ext cx="6291072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55555"/>
                </a:solidFill>
                <a:latin typeface="Microsoft YaHei"/>
              </a:rPr>
              <a:t>组队不是按 token；每个 token 可进入 K 个专家队伍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0" y="3703320"/>
            <a:ext cx="6583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9504" y="3758183"/>
            <a:ext cx="629107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>
                <a:solidFill>
                  <a:srgbClr val="111111"/>
                </a:solidFill>
                <a:latin typeface="Microsoft YaHei"/>
              </a:rPr>
              <a:t>Token 小队 + 本地 Expert 批量计算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9504" y="3959352"/>
            <a:ext cx="6291072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111111"/>
                </a:solidFill>
                <a:latin typeface="Aptos"/>
              </a:rPr>
              <a:t>h_t,e=SiLU(x_t W1^e) ⊙ (x_t W3^e)</a:t>
            </a:r>
            <a:br/>
            <a:r>
              <a:rPr sz="750" b="1">
                <a:solidFill>
                  <a:srgbClr val="111111"/>
                </a:solidFill>
                <a:latin typeface="Aptos"/>
              </a:rPr>
              <a:t>y_t,e=W2^e(α_t,e · h_t,e)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9504" y="4197096"/>
            <a:ext cx="6291072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555555"/>
                </a:solidFill>
                <a:latin typeface="Microsoft YaHei"/>
              </a:rPr>
              <a:t>idx,top=where(I==e)；routed=Expert(X[idx], A[idx,top])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4599432"/>
            <a:ext cx="6583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89504" y="4654296"/>
            <a:ext cx="629107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>
                <a:solidFill>
                  <a:srgbClr val="111111"/>
                </a:solidFill>
                <a:latin typeface="Microsoft YaHei"/>
              </a:rPr>
              <a:t>Token 小队归位：按 token_pos 局部累加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9504" y="4855464"/>
            <a:ext cx="62910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11111"/>
                </a:solidFill>
                <a:latin typeface="Aptos"/>
              </a:rPr>
              <a:t>y_r[t] += y_t,e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9504" y="4873752"/>
            <a:ext cx="6291072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55555"/>
                </a:solidFill>
                <a:latin typeface="Microsoft YaHei"/>
              </a:rPr>
              <a:t>local_output.index_add_(0, token_index, routed)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5257800"/>
            <a:ext cx="658368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89504" y="5312664"/>
            <a:ext cx="629107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1">
                <a:solidFill>
                  <a:srgbClr val="111111"/>
                </a:solidFill>
                <a:latin typeface="Microsoft YaHei"/>
              </a:rPr>
              <a:t>所有 core 对 routed 结果做 AllReduce(sum)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9504" y="5513832"/>
            <a:ext cx="62910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11111"/>
                </a:solidFill>
                <a:latin typeface="Aptos"/>
              </a:rPr>
              <a:t>y_routed[t] = Σ_r y_r[t]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9504" y="5532120"/>
            <a:ext cx="6291072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55555"/>
                </a:solidFill>
                <a:latin typeface="Microsoft YaHei"/>
              </a:rPr>
              <a:t>逐 token、逐维求和；shared 不参与此归约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5916168"/>
            <a:ext cx="658368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89504" y="5971031"/>
            <a:ext cx="629107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11111"/>
                </a:solidFill>
                <a:latin typeface="Microsoft YaHei"/>
              </a:rPr>
              <a:t>最终输出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9504" y="6172200"/>
            <a:ext cx="629107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11111"/>
                </a:solidFill>
                <a:latin typeface="Aptos"/>
              </a:rPr>
              <a:t>y[t] = y_routed[t] + y_shared[t]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9504" y="6208775"/>
            <a:ext cx="6291072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555555"/>
                </a:solidFill>
                <a:latin typeface="Microsoft YaHei"/>
              </a:rPr>
              <a:t>[T,D] → [B,S,D] → HC post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46920" y="4498848"/>
            <a:ext cx="2057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93224" y="4553712"/>
            <a:ext cx="1764792" cy="1828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11111"/>
                </a:solidFill>
                <a:latin typeface="Microsoft YaHei"/>
              </a:rPr>
              <a:t>Shared Expert（always on）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793224" y="4754880"/>
            <a:ext cx="176479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11111"/>
                </a:solidFill>
                <a:latin typeface="Aptos"/>
              </a:rPr>
              <a:t>y_shared[t] = S(x_t)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93224" y="4992624"/>
            <a:ext cx="1764792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55555"/>
                </a:solidFill>
                <a:latin typeface="Microsoft YaHei"/>
              </a:rPr>
              <a:t>原始 token 旁路；不参与 routed 归约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035040" y="1453896"/>
            <a:ext cx="0" cy="54864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Down Arrow 49"/>
          <p:cNvSpPr/>
          <p:nvPr/>
        </p:nvSpPr>
        <p:spPr>
          <a:xfrm>
            <a:off x="5961888" y="1453896"/>
            <a:ext cx="146304" cy="146304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6035040" y="2093976"/>
            <a:ext cx="0" cy="73152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Down Arrow 51"/>
          <p:cNvSpPr/>
          <p:nvPr/>
        </p:nvSpPr>
        <p:spPr>
          <a:xfrm>
            <a:off x="5961888" y="2112264"/>
            <a:ext cx="146304" cy="146304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6035040" y="2752344"/>
            <a:ext cx="0" cy="73152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Down Arrow 53"/>
          <p:cNvSpPr/>
          <p:nvPr/>
        </p:nvSpPr>
        <p:spPr>
          <a:xfrm>
            <a:off x="5961888" y="2770632"/>
            <a:ext cx="146304" cy="146304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6035040" y="3529584"/>
            <a:ext cx="0" cy="82295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Down Arrow 55"/>
          <p:cNvSpPr/>
          <p:nvPr/>
        </p:nvSpPr>
        <p:spPr>
          <a:xfrm>
            <a:off x="5961888" y="3557015"/>
            <a:ext cx="146304" cy="146304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6035040" y="4416552"/>
            <a:ext cx="0" cy="91440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own Arrow 57"/>
          <p:cNvSpPr/>
          <p:nvPr/>
        </p:nvSpPr>
        <p:spPr>
          <a:xfrm>
            <a:off x="5961888" y="4453128"/>
            <a:ext cx="146304" cy="146304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6035040" y="5093208"/>
            <a:ext cx="0" cy="73152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Down Arrow 59"/>
          <p:cNvSpPr/>
          <p:nvPr/>
        </p:nvSpPr>
        <p:spPr>
          <a:xfrm>
            <a:off x="5961888" y="5111496"/>
            <a:ext cx="146304" cy="146304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6035040" y="5751576"/>
            <a:ext cx="0" cy="73152"/>
          </a:xfrm>
          <a:prstGeom prst="line">
            <a:avLst/>
          </a:prstGeom>
          <a:ln w="1397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Down Arrow 61"/>
          <p:cNvSpPr/>
          <p:nvPr/>
        </p:nvSpPr>
        <p:spPr>
          <a:xfrm>
            <a:off x="5961888" y="5769864"/>
            <a:ext cx="146304" cy="146304"/>
          </a:xfrm>
          <a:prstGeom prst="downArrow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1536192" y="1453896"/>
            <a:ext cx="2167128" cy="146304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8366760" y="1453896"/>
            <a:ext cx="2304288" cy="146304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326880" y="2505456"/>
            <a:ext cx="1344168" cy="1993392"/>
          </a:xfrm>
          <a:prstGeom prst="line">
            <a:avLst/>
          </a:prstGeom>
          <a:ln w="12700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671048" y="5212080"/>
            <a:ext cx="0" cy="548640"/>
          </a:xfrm>
          <a:prstGeom prst="line">
            <a:avLst/>
          </a:prstGeom>
          <a:ln w="12700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9326880" y="5760720"/>
            <a:ext cx="1344168" cy="411480"/>
          </a:xfrm>
          <a:prstGeom prst="line">
            <a:avLst/>
          </a:prstGeom>
          <a:ln w="12700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WD3 Token 选专家后的多核执行流程</dc:title>
  <dc:subject>Top-K expert dispatch, grouping, local execution and AllReduce</dc:subject>
  <dc:creator>DeepSeek-V4 Flash repository</dc:creator>
  <cp:keywords/>
  <dc:description>Editable monochrome top-down flowchart based on the reference image.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