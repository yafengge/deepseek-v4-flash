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11384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00000"/>
                </a:solidFill>
                <a:latin typeface="Microsoft YaHei"/>
              </a:rPr>
              <a:t>WD3：多核 MoE 激活计算（Token 选专家后）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12064"/>
            <a:ext cx="11201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555555"/>
                </a:solidFill>
                <a:latin typeface="Microsoft YaHei"/>
              </a:rPr>
              <a:t>前提：X=[x_t]、I=[e_t,k]、A=[α_t,k] 已给定；流程从 dispatch 开始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768096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889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40" b="1">
                <a:solidFill>
                  <a:srgbClr val="111111"/>
                </a:solidFill>
                <a:latin typeface="Microsoft YaHei"/>
              </a:rPr>
              <a:t>内存足够策略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11111"/>
                </a:solidFill>
                <a:latin typeface="Microsoft YaHei"/>
              </a:rPr>
              <a:t>core r 固定持有 E_r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11111"/>
                </a:solidFill>
                <a:latin typeface="Microsoft YaHei"/>
              </a:rPr>
              <a:t>W_e 常驻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3744" y="768096"/>
            <a:ext cx="5870448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11111"/>
                </a:solidFill>
                <a:latin typeface="Microsoft YaHei"/>
              </a:rPr>
              <a:t>输入（已知）：Tokens + Top-K expert_id + α</a:t>
            </a:r>
          </a:p>
        </p:txBody>
      </p:sp>
      <p:sp>
        <p:nvSpPr>
          <p:cNvPr id="6" name="Rectangle 5"/>
          <p:cNvSpPr/>
          <p:nvPr/>
        </p:nvSpPr>
        <p:spPr>
          <a:xfrm>
            <a:off x="9912096" y="768096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889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40" b="1">
                <a:solidFill>
                  <a:srgbClr val="111111"/>
                </a:solidFill>
                <a:latin typeface="Microsoft YaHei"/>
              </a:rPr>
              <a:t>内存不足策略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11111"/>
                </a:solidFill>
                <a:latin typeface="Microsoft YaHei"/>
              </a:rPr>
              <a:t>U=unique({e_t,k})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11111"/>
                </a:solidFill>
                <a:latin typeface="Microsoft YaHei"/>
              </a:rPr>
              <a:t>按批动态加载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517904"/>
            <a:ext cx="8138160" cy="365760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111111"/>
                </a:solidFill>
                <a:latin typeface="Microsoft YaHei"/>
              </a:rPr>
              <a:t>准备本地专家集合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920240"/>
            <a:ext cx="784555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111111"/>
                </a:solidFill>
                <a:latin typeface="Consolas"/>
              </a:rPr>
              <a:t>E_r；W_e={W1^e,W2^e,W3^e}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00" b="0">
                <a:solidFill>
                  <a:srgbClr val="555555"/>
                </a:solidFill>
                <a:latin typeface="Microsoft YaHei"/>
              </a:rPr>
              <a:t>每个 core 只执行 E_r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176272"/>
            <a:ext cx="8138160" cy="365760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111111"/>
                </a:solidFill>
                <a:latin typeface="Microsoft YaHei"/>
              </a:rPr>
              <a:t>Token 与路由表分发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578608"/>
            <a:ext cx="784555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111111"/>
                </a:solidFill>
                <a:latin typeface="Consolas"/>
              </a:rPr>
              <a:t>R={(t,e_t,k,α_t,k)}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00" b="0">
                <a:solidFill>
                  <a:srgbClr val="555555"/>
                </a:solidFill>
                <a:latin typeface="Microsoft YaHei"/>
              </a:rPr>
              <a:t>广播到各 core，也可 all-to-all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2834640"/>
            <a:ext cx="8138160" cy="365760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111111"/>
                </a:solidFill>
                <a:latin typeface="Microsoft YaHei"/>
              </a:rPr>
              <a:t>按 expert_id 组队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236976"/>
            <a:ext cx="784555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111111"/>
                </a:solidFill>
                <a:latin typeface="Consolas"/>
              </a:rPr>
              <a:t>G_{r,e}={(t,x_t,α_t,k):e_t,k=e}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00" b="0">
                <a:solidFill>
                  <a:srgbClr val="555555"/>
                </a:solidFill>
                <a:latin typeface="Microsoft YaHei"/>
              </a:rPr>
              <a:t>同一 expert_id 的 token 成 batch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493008"/>
            <a:ext cx="813816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111111"/>
                </a:solidFill>
                <a:latin typeface="Microsoft YaHei"/>
              </a:rPr>
              <a:t>本地 Expert 批量计算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968496"/>
            <a:ext cx="78455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111111"/>
                </a:solidFill>
                <a:latin typeface="Consolas"/>
              </a:rPr>
              <a:t>h=SiLU(xW1)⊙(xW3);  y=W2(α·h)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00" b="0">
                <a:solidFill>
                  <a:srgbClr val="555555"/>
                </a:solidFill>
                <a:latin typeface="Microsoft YaHei"/>
              </a:rPr>
              <a:t>α 乘在 activated 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352544"/>
            <a:ext cx="8138160" cy="365760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111111"/>
                </a:solidFill>
                <a:latin typeface="Microsoft YaHei"/>
              </a:rPr>
              <a:t>按 token_pos 归位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754880"/>
            <a:ext cx="784555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111111"/>
                </a:solidFill>
                <a:latin typeface="Consolas"/>
              </a:rPr>
              <a:t>y_r[t] += y_t,e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00" b="0">
                <a:solidFill>
                  <a:srgbClr val="555555"/>
                </a:solidFill>
                <a:latin typeface="Microsoft YaHei"/>
              </a:rPr>
              <a:t>index_add_(0, token_index, routed)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010912"/>
            <a:ext cx="8138160" cy="365760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111111"/>
                </a:solidFill>
                <a:latin typeface="Microsoft YaHei"/>
              </a:rPr>
              <a:t>Routed 结果 AllReduce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413248"/>
            <a:ext cx="784555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111111"/>
                </a:solidFill>
                <a:latin typeface="Consolas"/>
              </a:rPr>
              <a:t>y_routed[t]=Σ_r y_r[t]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00" b="0">
                <a:solidFill>
                  <a:srgbClr val="555555"/>
                </a:solidFill>
                <a:latin typeface="Microsoft YaHei"/>
              </a:rPr>
              <a:t>逐 token、逐维求和；只汇总 routed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669280"/>
            <a:ext cx="8138160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111111"/>
                </a:solidFill>
                <a:latin typeface="Microsoft YaHei"/>
              </a:rPr>
              <a:t>加 Shared Expert，输出结果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6089904"/>
            <a:ext cx="784555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111111"/>
                </a:solidFill>
                <a:latin typeface="Consolas"/>
              </a:rPr>
              <a:t>y[t]=y_routed[t]+y_shared[t]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00" b="0">
                <a:solidFill>
                  <a:srgbClr val="555555"/>
                </a:solidFill>
                <a:latin typeface="Microsoft YaHei"/>
              </a:rPr>
              <a:t>[T,D] → [B,S,D] → HC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62288" y="1481328"/>
            <a:ext cx="276148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889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111111"/>
                </a:solidFill>
                <a:latin typeface="Microsoft YaHei"/>
              </a:rPr>
              <a:t>实现代码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11111"/>
                </a:solidFill>
                <a:latin typeface="Consolas"/>
              </a:rPr>
              <a:t>idx,top=where(I==e)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11111"/>
                </a:solidFill>
                <a:latin typeface="Consolas"/>
              </a:rPr>
              <a:t>routed=Expert(X[idx], A[idx,top])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11111"/>
                </a:solidFill>
                <a:latin typeface="Consolas"/>
              </a:rPr>
              <a:t>每个 expert 形成一个 batch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2679192"/>
            <a:ext cx="276148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889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111111"/>
                </a:solidFill>
                <a:latin typeface="Microsoft YaHei"/>
              </a:rPr>
              <a:t>组队示意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111111"/>
                </a:solidFill>
                <a:latin typeface="Consolas"/>
              </a:rPr>
              <a:t>e_0 :  t_0   t_3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111111"/>
                </a:solidFill>
                <a:latin typeface="Consolas"/>
              </a:rPr>
              <a:t>e_1 :  t_1   t_2   t_4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111111"/>
                </a:solidFill>
                <a:latin typeface="Consolas"/>
              </a:rPr>
              <a:t>e_2 :  t_0   t_2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111111"/>
                </a:solidFill>
                <a:latin typeface="Consolas"/>
              </a:rPr>
              <a:t>同一 expert_id 一队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62288" y="4828032"/>
            <a:ext cx="2761488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11111"/>
                </a:solidFill>
                <a:latin typeface="Microsoft YaHei"/>
              </a:rPr>
              <a:t>Shared Expert（always on）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5330952"/>
            <a:ext cx="26151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11111"/>
                </a:solidFill>
                <a:latin typeface="Consolas"/>
              </a:rPr>
              <a:t>y_shared[t]=S(x_t)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690" b="0">
                <a:solidFill>
                  <a:srgbClr val="555555"/>
                </a:solidFill>
                <a:latin typeface="Microsoft YaHei"/>
              </a:rPr>
              <a:t>原始 token 旁路；不参与 routed 归约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82312" y="1316736"/>
            <a:ext cx="0" cy="146303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Down Arrow 25"/>
          <p:cNvSpPr/>
          <p:nvPr/>
        </p:nvSpPr>
        <p:spPr>
          <a:xfrm>
            <a:off x="4727448" y="1426463"/>
            <a:ext cx="109728" cy="91440"/>
          </a:xfrm>
          <a:prstGeom prst="downArrow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782312" y="2029968"/>
            <a:ext cx="0" cy="9144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own Arrow 27"/>
          <p:cNvSpPr/>
          <p:nvPr/>
        </p:nvSpPr>
        <p:spPr>
          <a:xfrm>
            <a:off x="4727448" y="2084831"/>
            <a:ext cx="109728" cy="91440"/>
          </a:xfrm>
          <a:prstGeom prst="downArrow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4782312" y="2688336"/>
            <a:ext cx="0" cy="9144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Down Arrow 29"/>
          <p:cNvSpPr/>
          <p:nvPr/>
        </p:nvSpPr>
        <p:spPr>
          <a:xfrm>
            <a:off x="4727448" y="2743200"/>
            <a:ext cx="109728" cy="91440"/>
          </a:xfrm>
          <a:prstGeom prst="downArrow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782312" y="3346704"/>
            <a:ext cx="0" cy="9144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4727448" y="3401568"/>
            <a:ext cx="109728" cy="91440"/>
          </a:xfrm>
          <a:prstGeom prst="downArrow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782312" y="4133087"/>
            <a:ext cx="0" cy="164593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Down Arrow 33"/>
          <p:cNvSpPr/>
          <p:nvPr/>
        </p:nvSpPr>
        <p:spPr>
          <a:xfrm>
            <a:off x="4727448" y="4261104"/>
            <a:ext cx="109728" cy="91440"/>
          </a:xfrm>
          <a:prstGeom prst="downArrow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782312" y="4919472"/>
            <a:ext cx="0" cy="36576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own Arrow 35"/>
          <p:cNvSpPr/>
          <p:nvPr/>
        </p:nvSpPr>
        <p:spPr>
          <a:xfrm>
            <a:off x="4727448" y="4919472"/>
            <a:ext cx="109728" cy="91440"/>
          </a:xfrm>
          <a:prstGeom prst="downArrow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782312" y="5577840"/>
            <a:ext cx="0" cy="36576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own Arrow 37"/>
          <p:cNvSpPr/>
          <p:nvPr/>
        </p:nvSpPr>
        <p:spPr>
          <a:xfrm>
            <a:off x="4727448" y="5577840"/>
            <a:ext cx="109728" cy="91440"/>
          </a:xfrm>
          <a:prstGeom prst="downArrow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307592" y="1316736"/>
            <a:ext cx="841248" cy="164592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589520" y="1316736"/>
            <a:ext cx="3282696" cy="164592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51392" y="2999232"/>
            <a:ext cx="310896" cy="0"/>
          </a:xfrm>
          <a:prstGeom prst="line">
            <a:avLst/>
          </a:prstGeom>
          <a:ln w="12700">
            <a:solidFill>
              <a:srgbClr val="11111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851392" y="5056632"/>
            <a:ext cx="310896" cy="713232"/>
          </a:xfrm>
          <a:prstGeom prst="line">
            <a:avLst/>
          </a:prstGeom>
          <a:ln w="12700">
            <a:solidFill>
              <a:srgbClr val="11111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eft Arrow 42"/>
          <p:cNvSpPr/>
          <p:nvPr/>
        </p:nvSpPr>
        <p:spPr>
          <a:xfrm>
            <a:off x="8778240" y="5696712"/>
            <a:ext cx="164592" cy="164592"/>
          </a:xfrm>
          <a:prstGeom prst="leftArrow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547104"/>
            <a:ext cx="877824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555555"/>
                </a:solidFill>
                <a:latin typeface="Microsoft YaHei"/>
              </a:rPr>
              <a:t>主流程：每一步只保留一个方框；公式与实现说明放在框外，需要时再查看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6547104"/>
            <a:ext cx="2670048" cy="15544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555555"/>
                </a:solidFill>
                <a:latin typeface="Consolas"/>
              </a:rPr>
              <a:t>inference/model.py · ScoreBasedMoE.forward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WD3 多核 MoE 激活计算流程</dc:title>
  <dc:subject>Top-K expert dispatch, expert grouping, local execution and AllReduce</dc:subject>
  <dc:creator>DeepSeek-V4 Flash repository</dc:creator>
  <cp:keywords/>
  <dc:description>Editable one-slide flowchart with one box per main step and formulas outside the boxes.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