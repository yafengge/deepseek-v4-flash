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E5360"/>
                </a:solidFill>
                <a:latin typeface="Microsoft YaHei"/>
              </a:rPr>
              <a:t>Transformer Block 统计 · Prefill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91472" y="118872"/>
            <a:ext cx="2350008" cy="292608"/>
          </a:xfrm>
          <a:prstGeom prst="roundRect">
            <a:avLst/>
          </a:prstGeom>
          <a:solidFill>
            <a:srgbClr val="E3EFF2"/>
          </a:solidFill>
          <a:ln w="8890">
            <a:solidFill>
              <a:srgbClr val="2C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82912" y="182880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5360"/>
                </a:solidFill>
                <a:latin typeface="Consolas"/>
              </a:rPr>
              <a:t>B=1 · S=8,192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502920"/>
            <a:ext cx="88239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>
                <a:solidFill>
                  <a:srgbClr val="55717A"/>
                </a:solidFill>
                <a:latin typeface="Microsoft YaHei"/>
              </a:rPr>
              <a:t>统一口径：参数量、每卡 KV Cache、dtype、Transformer Block 计算量；TP1/TP8 均为单 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1432" y="502920"/>
            <a:ext cx="267004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5717A"/>
                </a:solidFill>
                <a:latin typeface="Consolas"/>
              </a:rPr>
              <a:t>D=4096 · H=64 · d=512 · q=1024 · G=8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50392"/>
            <a:ext cx="11704320" cy="5614416"/>
          </a:xfrm>
          <a:prstGeom prst="rect">
            <a:avLst/>
          </a:prstGeom>
          <a:solidFill>
            <a:srgbClr val="FFFFFF"/>
          </a:solidFill>
          <a:ln w="1016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850392"/>
            <a:ext cx="82296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82396"/>
            <a:ext cx="69494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TP / 每卡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850392"/>
            <a:ext cx="214884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882396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Transformer Block</a:t>
            </a:r>
            <a:br/>
            <a:r>
              <a:rPr sz="700" b="1">
                <a:solidFill>
                  <a:srgbClr val="FFFFFF"/>
                </a:solidFill>
                <a:latin typeface="Microsoft YaHei"/>
              </a:rPr>
              <a:t>算子参数量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850392"/>
            <a:ext cx="201168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882396"/>
            <a:ext cx="18836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每卡 KV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850392"/>
            <a:ext cx="297180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882396"/>
            <a:ext cx="284378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dtype（参数 / 激活）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850392"/>
            <a:ext cx="260604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882396"/>
            <a:ext cx="247802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计算量 / 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19" y="850392"/>
            <a:ext cx="114300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53928" y="882396"/>
            <a:ext cx="1014983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层型 / 口径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197864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1197864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1220724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整网 Transformer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1225296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原生 43 层：window×2 + ratio=4×21 + ratio=128×20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453896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1485900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1453896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1485900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283.275B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155.940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453896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1485900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0.074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0.051 GB · Indexer 0.011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0.012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1453896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1485900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routed FP4 / shared FP8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KV/activation BF16；Comp/Norm/HC/Router FP32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453896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1485900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228.383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102.836 TFLOPs · MoE 124.846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0.701 TFLOPs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19" y="1453896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53928" y="1485900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43 layers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原生 mix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1984248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2016252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" y="1984248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2016252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36.932B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21.952 GB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1984248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4408" y="2016252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0.074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0.051 GB · Indexer 0.011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0.012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1984248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6088" y="2016252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routed FP4 / shared FP8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KV/activation BF16；Comp/Norm/HC/Router FP32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984248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2016252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55.639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23.172 TFLOPs · MoE 31.766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0.701 TFLOPs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19" y="1984248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53928" y="2016252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43 layers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原生 mix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2514600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2514600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2537460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ratio=4 典型层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2542032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短压缩层：含 ratio-4 Indexer 与 Top-K=512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770632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" y="2802636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" y="2770632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2802636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6.596B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3.644 GB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2770632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2802636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0.003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0.002 GB · Indexer 0.001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2770632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76088" y="2802636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Indexer FP8 / BF16 / FP32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2770632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2802636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5.740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2.821 TFLOPs · MoE 2.903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89919" y="2770632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3928" y="2802636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short + Indexer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300984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" y="3332988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" y="3300984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5568" y="3332988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862.764M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0.524 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300984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64408" y="3332988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0.003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0.002 GB · Indexer 0.001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3300984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76088" y="3332988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Indexer FP8 / BF16 / FP32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3300984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7888" y="3332988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1.425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0.670 TFLOPs · MoE 0.739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19" y="3300984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53928" y="3332988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short + Indexer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3831336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3831336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3854196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ratio=8 典型层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60320" y="3858768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长压缩公式对比层；原生模型未启用 ratio=8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087368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" y="4119372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" y="4087368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15568" y="4119372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6.581B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3.610 GB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4087368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64408" y="4119372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0.001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12080" y="4087368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76088" y="4119372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无 Indexer；长压缩 ratio=8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83879" y="4087368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47888" y="4119372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5.426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2.507 TFLOPs · MoE 2.903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89919" y="4087368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53928" y="4119372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comparison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617720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2608" y="4649724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4617720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15568" y="4649724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855.391M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0.498 GB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0" y="4617720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64408" y="4649724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0.001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0.001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12080" y="4617720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76088" y="4649724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无 Indexer；长压缩 ratio=8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83879" y="4617720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47888" y="4649724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1.304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0.549 TFLOPs · MoE 0.739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89919" y="4617720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53928" y="4649724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comparison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5148072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28600" y="5148072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5170932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其他典型层（window）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60320" y="5175504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原生滑动窗口层：window=128，无压缩 KV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5404104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2608" y="5436108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51560" y="5404104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15568" y="5436108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6.576B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3.594 GB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0" y="5404104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64408" y="5436108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0.000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12080" y="5404104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76088" y="5436108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raw KV / activation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FP4/FP8；Norm/HC/Router FP32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83879" y="5404104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47888" y="5436108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4.808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1.889 TFLOPs · MoE 2.903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89919" y="5404104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853928" y="5436108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raw window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934456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2608" y="5966460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" y="5934456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5568" y="5966460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851.192M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0.481 GB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0" y="5934456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64408" y="5966460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0.000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12080" y="5934456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76088" y="5966460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raw KV / activation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FP4/FP8；Norm/HC/Router FP32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79" y="5934456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47888" y="5966460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1.098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0.343 TFLOPs · MoE 0.739 TFLOPs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0.016 TFLOPs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789919" y="5934456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853928" y="5966460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raw window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6547104"/>
            <a:ext cx="11475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55717A"/>
                </a:solidFill>
                <a:latin typeface="Microsoft YaHei"/>
              </a:rPr>
              <a:t>Block = Attention + MoE + HC/Norm；不含 Embedding、LM Head、尾部 HC。ratio=8 是公式对比假设；其他典型层取原生 window=128，原生 ratio=128 已计入整网。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E5360"/>
                </a:solidFill>
                <a:latin typeface="Microsoft YaHei"/>
              </a:rPr>
              <a:t>Transformer Block 统计 · Decode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91472" y="118872"/>
            <a:ext cx="2350008" cy="292608"/>
          </a:xfrm>
          <a:prstGeom prst="roundRect">
            <a:avLst/>
          </a:prstGeom>
          <a:solidFill>
            <a:srgbClr val="E3EFF2"/>
          </a:solidFill>
          <a:ln w="8890">
            <a:solidFill>
              <a:srgbClr val="2C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82912" y="182880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5360"/>
                </a:solidFill>
                <a:latin typeface="Consolas"/>
              </a:rPr>
              <a:t>B=1 · 1 token · C=1,048,576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502920"/>
            <a:ext cx="88239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>
                <a:solidFill>
                  <a:srgbClr val="55717A"/>
                </a:solidFill>
                <a:latin typeface="Microsoft YaHei"/>
              </a:rPr>
              <a:t>统一口径：参数量、每卡 KV Cache、dtype、Transformer Block 计算量；TP1/TP8 均为单 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1432" y="502920"/>
            <a:ext cx="267004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5717A"/>
                </a:solidFill>
                <a:latin typeface="Consolas"/>
              </a:rPr>
              <a:t>D=4096 · H=64 · d=512 · q=1024 · G=8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50392"/>
            <a:ext cx="11704320" cy="5614416"/>
          </a:xfrm>
          <a:prstGeom prst="rect">
            <a:avLst/>
          </a:prstGeom>
          <a:solidFill>
            <a:srgbClr val="FFFFFF"/>
          </a:solidFill>
          <a:ln w="1016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850392"/>
            <a:ext cx="82296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82396"/>
            <a:ext cx="69494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TP / 每卡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850392"/>
            <a:ext cx="214884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882396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Transformer Block</a:t>
            </a:r>
            <a:br/>
            <a:r>
              <a:rPr sz="700" b="1">
                <a:solidFill>
                  <a:srgbClr val="FFFFFF"/>
                </a:solidFill>
                <a:latin typeface="Microsoft YaHei"/>
              </a:rPr>
              <a:t>算子参数量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850392"/>
            <a:ext cx="201168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882396"/>
            <a:ext cx="18836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每卡 KV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850392"/>
            <a:ext cx="297180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882396"/>
            <a:ext cx="284378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dtype（参数 / 激活）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850392"/>
            <a:ext cx="260604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882396"/>
            <a:ext cx="247802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计算量 / 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19" y="850392"/>
            <a:ext cx="1143000" cy="347472"/>
          </a:xfrm>
          <a:prstGeom prst="rect">
            <a:avLst/>
          </a:prstGeom>
          <a:solidFill>
            <a:srgbClr val="365E69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53928" y="882396"/>
            <a:ext cx="1014983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层型 / 口径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197864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1197864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1220724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整网 Transformer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1225296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原生 43 层：window×2 + ratio=4×21 + ratio=128×20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453896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1485900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1453896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1485900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283.275B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155.940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453896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1485900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7.232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5.811 GB · Indexer 1.409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0.012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1453896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1485900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routed FP4 / shared FP8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KV/activation BF16；Comp/Norm/HC/Router FP32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453896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1485900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139.295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123.969 GFLOPs · MoE 15.240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0.086 GFLOPs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19" y="1453896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53928" y="1485900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43 layers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原生 mix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1984248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2016252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" y="1984248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2016252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36.932B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21.952 GB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1984248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4408" y="2016252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7.232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5.811 GB · Indexer 1.409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0.012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1984248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6088" y="2016252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routed FP4 / shared FP8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KV/activation BF16；Comp/Norm/HC/Router FP32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984248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2016252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23.416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19.452 GFLOPs · MoE 3.878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0.086 GFLOPs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19" y="1984248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53928" y="2016252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43 layers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原生 mix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2514600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2514600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2537460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ratio=4 典型层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2542032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短压缩层：含 ratio-4 Indexer 与 Top-K=512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770632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" y="2802636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" y="2770632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2802636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6.596B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3.644 GB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2770632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2802636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0.336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0.269 GB · Indexer 0.067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2770632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76088" y="2802636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Indexer FP8 / BF16 / FP32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2770632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2802636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4.987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4.631 GFLOPs · MoE 0.354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89919" y="2770632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3928" y="2802636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short + Indexer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300984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" y="3332988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" y="3300984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5568" y="3332988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862.764M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0.524 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300984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64408" y="3332988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0.336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0.269 GB · Indexer 0.067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3300984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76088" y="3332988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Indexer FP8 / BF16 / FP32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3300984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7888" y="3332988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0.711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0.619 GFLOPs · MoE 0.090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19" y="3300984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53928" y="3332988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short + Indexer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3831336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" y="3831336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3854196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ratio=8 典型层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60320" y="3858768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长压缩公式对比层；原生模型未启用 ratio=8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087368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" y="4119372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" y="4087368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15568" y="4119372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6.581B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3.610 GB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4087368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64408" y="4119372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0.134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0.134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12080" y="4087368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76088" y="4119372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无 Indexer；长压缩 ratio=8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83879" y="4087368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47888" y="4119372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17.775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17.419 GFLOPs · MoE 0.354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89919" y="4087368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53928" y="4119372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comparison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617720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2608" y="4649724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4617720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15568" y="4649724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855.391M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0.498 GB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0" y="4617720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64408" y="4649724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0.134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0.134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12080" y="4617720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76088" y="4649724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无 Indexer；长压缩 ratio=8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FP4/FP8；KV/Comp/HC/Norm FP32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83879" y="4617720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47888" y="4649724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4.437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4.345 GFLOPs · MoE 0.090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89919" y="4617720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53928" y="4649724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comparison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5148072"/>
            <a:ext cx="11704320" cy="256032"/>
          </a:xfrm>
          <a:prstGeom prst="rect">
            <a:avLst/>
          </a:prstGeom>
          <a:solidFill>
            <a:srgbClr val="E3EFF2"/>
          </a:solidFill>
          <a:ln w="7620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28600" y="5148072"/>
            <a:ext cx="64008" cy="256032"/>
          </a:xfrm>
          <a:prstGeom prst="rect">
            <a:avLst/>
          </a:prstGeom>
          <a:solidFill>
            <a:srgbClr val="2C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5170932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E5360"/>
                </a:solidFill>
                <a:latin typeface="Microsoft YaHei"/>
              </a:rPr>
              <a:t>其他典型层（window）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60320" y="5175504"/>
            <a:ext cx="9235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5" b="0">
                <a:solidFill>
                  <a:srgbClr val="55717A"/>
                </a:solidFill>
                <a:latin typeface="Microsoft YaHei"/>
              </a:rPr>
              <a:t>原生滑动窗口层：window=128，无压缩 KV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5404104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2608" y="5436108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TP1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51560" y="5404104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15568" y="5436108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6.576B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3.594 GB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0" y="5404104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64408" y="5436108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0.000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12080" y="5404104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76088" y="5436108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raw KV / activation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FP4/FP8；Norm/HC/Router FP32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83879" y="5404104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47888" y="5436108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0.587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0.231 GFLOPs · MoE 0.354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89919" y="5404104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853928" y="5436108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raw window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64 heads · O 8 groups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934456"/>
            <a:ext cx="82296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2608" y="5966460"/>
            <a:ext cx="69494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E5360"/>
                </a:solidFill>
                <a:latin typeface="Consolas"/>
              </a:rPr>
              <a:t>TP8</a:t>
            </a:r>
            <a:br/>
            <a:r>
              <a:rPr sz="819" b="1">
                <a:solidFill>
                  <a:srgbClr val="1E5360"/>
                </a:solidFill>
                <a:latin typeface="Consolas"/>
              </a:rPr>
              <a:t>每卡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" y="5934456"/>
            <a:ext cx="21488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5568" y="5966460"/>
            <a:ext cx="20208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>
                <a:solidFill>
                  <a:srgbClr val="18323A"/>
                </a:solidFill>
                <a:latin typeface="Microsoft YaHei"/>
              </a:rPr>
              <a:t>logical 851.192M</a:t>
            </a:r>
            <a:br/>
            <a:r>
              <a:rPr sz="655" b="0">
                <a:solidFill>
                  <a:srgbClr val="18323A"/>
                </a:solidFill>
                <a:latin typeface="Microsoft YaHei"/>
              </a:rPr>
              <a:t>容量 0.481 GB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0" y="5934456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64408" y="5966460"/>
            <a:ext cx="188366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合计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主 KV 0.000 GB · Indexer 0.000 GB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State 0.000 GB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12080" y="5934456"/>
            <a:ext cx="29718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76088" y="5966460"/>
            <a:ext cx="284378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5" b="0">
                <a:solidFill>
                  <a:srgbClr val="18323A"/>
                </a:solidFill>
                <a:latin typeface="Microsoft YaHei"/>
              </a:rPr>
              <a:t>Attn FP8 + scale；wo_a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raw KV / activation BF16</a:t>
            </a:r>
            <a:br/>
            <a:r>
              <a:rPr sz="565" b="0">
                <a:solidFill>
                  <a:srgbClr val="18323A"/>
                </a:solidFill>
                <a:latin typeface="Microsoft YaHei"/>
              </a:rPr>
              <a:t>MoE FP4/FP8；Norm/HC/Router FP32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83879" y="5934456"/>
            <a:ext cx="26060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47888" y="5966460"/>
            <a:ext cx="2478024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5" b="0">
                <a:solidFill>
                  <a:srgbClr val="18323A"/>
                </a:solidFill>
                <a:latin typeface="Microsoft YaHei"/>
              </a:rPr>
              <a:t>总计 0.134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Attn 0.042 GFLOPs · MoE 0.090 GFLOPs</a:t>
            </a:r>
            <a:br/>
            <a:r>
              <a:rPr sz="595" b="0">
                <a:solidFill>
                  <a:srgbClr val="18323A"/>
                </a:solidFill>
                <a:latin typeface="Microsoft YaHei"/>
              </a:rPr>
              <a:t>HC/Norm 0.002 GFLOPs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789919" y="5934456"/>
            <a:ext cx="1143000" cy="530352"/>
          </a:xfrm>
          <a:prstGeom prst="rect">
            <a:avLst/>
          </a:prstGeom>
          <a:solidFill>
            <a:srgbClr val="EDF5F6"/>
          </a:solidFill>
          <a:ln w="698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853928" y="5966460"/>
            <a:ext cx="1014983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55717A"/>
                </a:solidFill>
                <a:latin typeface="Microsoft YaHei"/>
              </a:rPr>
              <a:t>1 layer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raw window</a:t>
            </a:r>
            <a:br/>
            <a:r>
              <a:rPr sz="545" b="0">
                <a:solidFill>
                  <a:srgbClr val="55717A"/>
                </a:solidFill>
                <a:latin typeface="Microsoft YaHei"/>
              </a:rPr>
              <a:t>Q 8 heads · O 1 groups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6547104"/>
            <a:ext cx="11475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55717A"/>
                </a:solidFill>
                <a:latin typeface="Microsoft YaHei"/>
              </a:rPr>
              <a:t>Block = Attention + MoE + HC/Norm；不含 Embedding、LM Head、尾部 HC。ratio=8 是公式对比假设；其他典型层取原生 window=128，原生 ratio=128 已计入整网。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V4 Flash Transformer Block Prefill Decode Summary</dc:title>
  <dc:subject>TP1/TP8 Transformer Block parameters, KV cache, dtype, and compute</dc:subject>
  <dc:creator>DeepSeek V4 Flash repository</dc:creator>
  <cp:keywords/>
  <dc:description>Editable two-slide summary generated from the repository calculator.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