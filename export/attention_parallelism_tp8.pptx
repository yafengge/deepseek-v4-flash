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8549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00000"/>
                </a:solidFill>
                <a:latin typeface="Microsoft YaHei"/>
              </a:rPr>
              <a:t>MLA Attention：TP8 并行路径与计算公式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30352"/>
            <a:ext cx="9281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555555"/>
                </a:solidFill>
                <a:latin typeface="Microsoft YaHei"/>
              </a:rPr>
              <a:t>Q heads / O factors 按 TP 切分；latent KV 每 rank 复制；8 个 head 的结果先本地聚合，再对 wo_b 部分结果做 AllReduce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8944" y="164592"/>
            <a:ext cx="1993392" cy="347472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24688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E72B6"/>
                </a:solidFill>
                <a:latin typeface="Consolas"/>
              </a:rPr>
              <a:t>H=64  d=512  G=8  TP=8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832104"/>
            <a:ext cx="11521440" cy="320040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909828"/>
            <a:ext cx="70408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8C99"/>
                </a:solidFill>
                <a:latin typeface="Arial"/>
              </a:rPr>
              <a:t>Replicate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909828"/>
            <a:ext cx="12070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每 rank 完整副本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909828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72B6"/>
                </a:solidFill>
                <a:latin typeface="Arial"/>
              </a:rPr>
              <a:t>Shard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909828"/>
            <a:ext cx="245059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按 head / group / input-output dim 切分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909828"/>
            <a:ext cx="49377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3855F"/>
                </a:solidFill>
                <a:latin typeface="Arial"/>
              </a:rPr>
              <a:t>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909828"/>
            <a:ext cx="23774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本 rank 计算，不发生逐 head 网络传输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909828"/>
            <a:ext cx="84124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050A2"/>
                </a:solidFill>
                <a:latin typeface="Arial"/>
              </a:rPr>
              <a:t>AllReduce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48088" y="909828"/>
            <a:ext cx="170078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Microsoft YaHei"/>
              </a:rPr>
              <a:t>各 rank partial output 求和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1243584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55555"/>
                </a:solidFill>
                <a:latin typeface="Arial"/>
              </a:rPr>
              <a:t>A  Q path + local Sparse Attention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1481328"/>
            <a:ext cx="1170432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481328"/>
            <a:ext cx="59436" cy="1188720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1572768"/>
            <a:ext cx="9692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Microsoft YaHei"/>
              </a:rPr>
              <a:t>Input 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187452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08C99"/>
                </a:solidFill>
                <a:latin typeface="Consolas"/>
              </a:rPr>
              <a:t>[B,S,D]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2194560"/>
            <a:ext cx="969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B6F7D"/>
                </a:solidFill>
                <a:latin typeface="Microsoft YaHei"/>
              </a:rPr>
              <a:t>D=4096</a:t>
            </a:r>
            <a:br/>
            <a:r>
              <a:rPr sz="710" b="0">
                <a:solidFill>
                  <a:srgbClr val="5B6F7D"/>
                </a:solidFill>
                <a:latin typeface="Microsoft YaHei"/>
              </a:rPr>
              <a:t>replicated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00200" y="1481328"/>
            <a:ext cx="1399032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00200" y="1481328"/>
            <a:ext cx="59436" cy="1188720"/>
          </a:xfrm>
          <a:prstGeom prst="rect">
            <a:avLst/>
          </a:prstGeom>
          <a:solidFill>
            <a:srgbClr val="2E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19072" y="1572768"/>
            <a:ext cx="119786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Microsoft YaHei"/>
              </a:rPr>
              <a:t>wq_a + q_norm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1874520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E72B6"/>
                </a:solidFill>
                <a:latin typeface="Consolas"/>
              </a:rPr>
              <a:t>D → q=1024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2194560"/>
            <a:ext cx="11978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B6F7D"/>
                </a:solidFill>
                <a:latin typeface="Microsoft YaHei"/>
              </a:rPr>
              <a:t>full q_rank on</a:t>
            </a:r>
            <a:br/>
            <a:r>
              <a:rPr sz="710" b="0">
                <a:solidFill>
                  <a:srgbClr val="5B6F7D"/>
                </a:solidFill>
                <a:latin typeface="Microsoft YaHei"/>
              </a:rPr>
              <a:t>every rank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27248" y="1481328"/>
            <a:ext cx="1325880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27248" y="1481328"/>
            <a:ext cx="59436" cy="1188720"/>
          </a:xfrm>
          <a:prstGeom prst="rect">
            <a:avLst/>
          </a:prstGeom>
          <a:solidFill>
            <a:srgbClr val="2E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1572768"/>
            <a:ext cx="11247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Microsoft YaHei"/>
              </a:rPr>
              <a:t>wq_b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1874520"/>
            <a:ext cx="11612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E72B6"/>
                </a:solidFill>
                <a:latin typeface="Consolas"/>
              </a:rPr>
              <a:t>q → 8×512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6976" y="2194560"/>
            <a:ext cx="112471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B6F7D"/>
                </a:solidFill>
                <a:latin typeface="Microsoft YaHei"/>
              </a:rPr>
              <a:t>ColumnParallel</a:t>
            </a:r>
            <a:br/>
            <a:r>
              <a:rPr sz="710" b="0">
                <a:solidFill>
                  <a:srgbClr val="5B6F7D"/>
                </a:solidFill>
                <a:latin typeface="Microsoft YaHei"/>
              </a:rPr>
              <a:t>8 local Q heads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1481328"/>
            <a:ext cx="1746504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1481328"/>
            <a:ext cx="59436" cy="1188720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1572768"/>
            <a:ext cx="154533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Microsoft YaHei"/>
              </a:rPr>
              <a:t>Sparse Attention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1874520"/>
            <a:ext cx="15819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3855F"/>
                </a:solidFill>
                <a:latin typeface="Consolas"/>
              </a:rPr>
              <a:t>Q_local × KV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2194560"/>
            <a:ext cx="154533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B6F7D"/>
                </a:solidFill>
                <a:latin typeface="Microsoft YaHei"/>
              </a:rPr>
              <a:t>QK + AV</a:t>
            </a:r>
            <a:br/>
            <a:r>
              <a:rPr sz="710" b="0">
                <a:solidFill>
                  <a:srgbClr val="5B6F7D"/>
                </a:solidFill>
                <a:latin typeface="Microsoft YaHei"/>
              </a:rPr>
              <a:t>8 heads, same KV candidates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37376" y="1481328"/>
            <a:ext cx="1417320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37376" y="1481328"/>
            <a:ext cx="59436" cy="1188720"/>
          </a:xfrm>
          <a:prstGeom prst="rect">
            <a:avLst/>
          </a:prstGeom>
          <a:solidFill>
            <a:srgbClr val="B7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1572768"/>
            <a:ext cx="121615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Microsoft YaHei"/>
              </a:rPr>
              <a:t>reshape / group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8816" y="1874520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76700"/>
                </a:solidFill>
                <a:latin typeface="Consolas"/>
              </a:rPr>
              <a:t>[B,S,8,512]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47104" y="2194560"/>
            <a:ext cx="121615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B6F7D"/>
                </a:solidFill>
                <a:latin typeface="Microsoft YaHei"/>
              </a:rPr>
              <a:t>→ [B,S,1,4096]</a:t>
            </a:r>
            <a:br/>
            <a:r>
              <a:rPr sz="710" b="0">
                <a:solidFill>
                  <a:srgbClr val="5B6F7D"/>
                </a:solidFill>
                <a:latin typeface="Microsoft YaHei"/>
              </a:rPr>
              <a:t>8 heads → 1 group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10144" y="1481328"/>
            <a:ext cx="1371600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10144" y="1481328"/>
            <a:ext cx="59436" cy="1188720"/>
          </a:xfrm>
          <a:prstGeom prst="rect">
            <a:avLst/>
          </a:prstGeom>
          <a:solidFill>
            <a:srgbClr val="B7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29016" y="1572768"/>
            <a:ext cx="117043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Microsoft YaHei"/>
              </a:rPr>
              <a:t>wo_a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3" y="1874520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76700"/>
                </a:solidFill>
                <a:latin typeface="Consolas"/>
              </a:rPr>
              <a:t>4096 → 1024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9871" y="2194560"/>
            <a:ext cx="1170432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B6F7D"/>
                </a:solidFill>
                <a:latin typeface="Microsoft YaHei"/>
              </a:rPr>
              <a:t>local output factor</a:t>
            </a:r>
            <a:br/>
            <a:r>
              <a:rPr sz="710" b="0">
                <a:solidFill>
                  <a:srgbClr val="5B6F7D"/>
                </a:solidFill>
                <a:latin typeface="Microsoft YaHei"/>
              </a:rPr>
              <a:t>per group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37192" y="1481328"/>
            <a:ext cx="1298448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37192" y="1481328"/>
            <a:ext cx="59436" cy="1188720"/>
          </a:xfrm>
          <a:prstGeom prst="rect">
            <a:avLst/>
          </a:prstGeom>
          <a:solidFill>
            <a:srgbClr val="70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56064" y="157276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Microsoft YaHei"/>
              </a:rPr>
              <a:t>wo_b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28632" y="1874520"/>
            <a:ext cx="11338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050A2"/>
                </a:solidFill>
                <a:latin typeface="Consolas"/>
              </a:rPr>
              <a:t>1024 → 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19" y="2194560"/>
            <a:ext cx="10972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B6F7D"/>
                </a:solidFill>
                <a:latin typeface="Microsoft YaHei"/>
              </a:rPr>
              <a:t>partial [B,S,D]</a:t>
            </a:r>
            <a:br/>
            <a:r>
              <a:rPr sz="710" b="0">
                <a:solidFill>
                  <a:srgbClr val="5B6F7D"/>
                </a:solidFill>
                <a:latin typeface="Microsoft YaHei"/>
              </a:rPr>
              <a:t>RowParallel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0" y="1481328"/>
            <a:ext cx="859536" cy="11887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972800" y="1481328"/>
            <a:ext cx="59436" cy="1188720"/>
          </a:xfrm>
          <a:prstGeom prst="rect">
            <a:avLst/>
          </a:prstGeom>
          <a:solidFill>
            <a:srgbClr val="70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91672" y="157276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Microsoft YaHei"/>
              </a:rPr>
              <a:t>AllReduce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1874520"/>
            <a:ext cx="6949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050A2"/>
                </a:solidFill>
                <a:latin typeface="Consolas"/>
              </a:rPr>
              <a:t>Σ rank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82528" y="2194560"/>
            <a:ext cx="65836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B6F7D"/>
                </a:solidFill>
                <a:latin typeface="Microsoft YaHei"/>
              </a:rPr>
              <a:t>final x</a:t>
            </a:r>
            <a:br/>
            <a:r>
              <a:rPr sz="710" b="0">
                <a:solidFill>
                  <a:srgbClr val="5B6F7D"/>
                </a:solidFill>
                <a:latin typeface="Microsoft YaHei"/>
              </a:rPr>
              <a:t>[B,S,D]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1517904" y="1993392"/>
            <a:ext cx="128016" cy="164592"/>
          </a:xfrm>
          <a:prstGeom prst="right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ight Arrow 57"/>
          <p:cNvSpPr/>
          <p:nvPr/>
        </p:nvSpPr>
        <p:spPr>
          <a:xfrm>
            <a:off x="3044952" y="1993392"/>
            <a:ext cx="128016" cy="164592"/>
          </a:xfrm>
          <a:prstGeom prst="right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ght Arrow 58"/>
          <p:cNvSpPr/>
          <p:nvPr/>
        </p:nvSpPr>
        <p:spPr>
          <a:xfrm>
            <a:off x="4489704" y="1993392"/>
            <a:ext cx="128016" cy="164592"/>
          </a:xfrm>
          <a:prstGeom prst="right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ight Arrow 59"/>
          <p:cNvSpPr/>
          <p:nvPr/>
        </p:nvSpPr>
        <p:spPr>
          <a:xfrm>
            <a:off x="6355080" y="1993392"/>
            <a:ext cx="128016" cy="164592"/>
          </a:xfrm>
          <a:prstGeom prst="right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ight Arrow 60"/>
          <p:cNvSpPr/>
          <p:nvPr/>
        </p:nvSpPr>
        <p:spPr>
          <a:xfrm>
            <a:off x="7927848" y="1993392"/>
            <a:ext cx="128016" cy="164592"/>
          </a:xfrm>
          <a:prstGeom prst="right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ight Arrow 61"/>
          <p:cNvSpPr/>
          <p:nvPr/>
        </p:nvSpPr>
        <p:spPr>
          <a:xfrm>
            <a:off x="9454896" y="1993392"/>
            <a:ext cx="128016" cy="164592"/>
          </a:xfrm>
          <a:prstGeom prst="right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ight Arrow 62"/>
          <p:cNvSpPr/>
          <p:nvPr/>
        </p:nvSpPr>
        <p:spPr>
          <a:xfrm>
            <a:off x="10890504" y="1993392"/>
            <a:ext cx="128016" cy="164592"/>
          </a:xfrm>
          <a:prstGeom prst="rightArrow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20040" y="2734056"/>
            <a:ext cx="11521440" cy="83210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4632" y="2834640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08C99"/>
                </a:solidFill>
                <a:latin typeface="Arial"/>
              </a:rPr>
              <a:t>KV path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07008" y="2816352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wkv + Compressor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07008" y="306324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008C99"/>
                </a:solidFill>
                <a:latin typeface="Consolas"/>
              </a:rPr>
              <a:t>[B,S,D] → [B,S,512]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34640" y="2871216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B6F7D"/>
                </a:solidFill>
                <a:latin typeface="Microsoft YaHei"/>
              </a:rPr>
              <a:t>raw W=128 + compressed KV</a:t>
            </a:r>
            <a:br/>
            <a:r>
              <a:rPr sz="720" b="0">
                <a:solidFill>
                  <a:srgbClr val="5B6F7D"/>
                </a:solidFill>
                <a:latin typeface="Microsoft YaHei"/>
              </a:rPr>
              <a:t>replicated on every rank</a:t>
            </a:r>
          </a:p>
        </p:txBody>
      </p:sp>
      <p:sp>
        <p:nvSpPr>
          <p:cNvPr id="69" name="Down Arrow 68"/>
          <p:cNvSpPr/>
          <p:nvPr/>
        </p:nvSpPr>
        <p:spPr>
          <a:xfrm>
            <a:off x="5340096" y="2642616"/>
            <a:ext cx="164592" cy="128016"/>
          </a:xfrm>
          <a:prstGeom prst="downArrow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02352" y="3383280"/>
            <a:ext cx="71323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008C99"/>
                </a:solidFill>
                <a:latin typeface="Consolas"/>
              </a:rPr>
              <a:t>candidate KV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92624" y="2834640"/>
            <a:ext cx="10972" cy="548640"/>
          </a:xfrm>
          <a:prstGeom prst="rect">
            <a:avLst/>
          </a:prstGeom>
          <a:solidFill>
            <a:srgbClr val="C2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04688" y="2816352"/>
            <a:ext cx="22585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72B6"/>
                </a:solidFill>
                <a:latin typeface="Microsoft YaHei"/>
              </a:rPr>
              <a:t>ratio-4 Indexer (short layers only)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04688" y="3063240"/>
            <a:ext cx="140817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E72B6"/>
                </a:solidFill>
                <a:latin typeface="Consolas"/>
              </a:rPr>
              <a:t>64 heads × 128 dim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22592" y="3026664"/>
            <a:ext cx="28986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B6F7D"/>
                </a:solidFill>
                <a:latin typeface="Consolas"/>
              </a:rPr>
              <a:t>scan P_index → score AllReduce → Top-K=512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40112" y="3063240"/>
            <a:ext cx="75895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E72B6"/>
                </a:solidFill>
                <a:latin typeface="Consolas"/>
              </a:rPr>
              <a:t>topk_idxs</a:t>
            </a:r>
          </a:p>
        </p:txBody>
      </p:sp>
      <p:sp>
        <p:nvSpPr>
          <p:cNvPr id="76" name="Down Arrow 75"/>
          <p:cNvSpPr/>
          <p:nvPr/>
        </p:nvSpPr>
        <p:spPr>
          <a:xfrm>
            <a:off x="10323576" y="2642616"/>
            <a:ext cx="164592" cy="128016"/>
          </a:xfrm>
          <a:prstGeom prst="downArrow">
            <a:avLst/>
          </a:prstGeom>
          <a:solidFill>
            <a:srgbClr val="2E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4048" y="3703320"/>
            <a:ext cx="113568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C00000"/>
                </a:solidFill>
                <a:latin typeface="Microsoft YaHei"/>
              </a:rPr>
              <a:t>关键：多个 Q head 的结果不是跨 rank 逐个发送；它们在本 rank 内按 group 拼接后进入 wo_a，只有 wo_b 的 partial output 需要 AllReduce。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3986784"/>
            <a:ext cx="3657600" cy="1051560"/>
          </a:xfrm>
          <a:prstGeom prst="rect">
            <a:avLst/>
          </a:prstGeom>
          <a:solidFill>
            <a:srgbClr val="F3F3F3"/>
          </a:solidFill>
          <a:ln w="1143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8056" y="4078224"/>
            <a:ext cx="34015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8C99"/>
                </a:solidFill>
                <a:latin typeface="Microsoft YaHei"/>
              </a:rPr>
              <a:t>TP8 shape ledger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8056" y="4352544"/>
            <a:ext cx="3401568" cy="6035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111111"/>
                </a:solidFill>
                <a:latin typeface="Consolas"/>
              </a:rPr>
              <a:t>x         [B,S,4096]       replicate</a:t>
            </a:r>
            <a:br/>
            <a:r>
              <a:rPr sz="720" b="0">
                <a:solidFill>
                  <a:srgbClr val="111111"/>
                </a:solidFill>
                <a:latin typeface="Consolas"/>
              </a:rPr>
              <a:t>q_rank    [B,S,1024]       replicate</a:t>
            </a:r>
            <a:br/>
            <a:r>
              <a:rPr sz="720" b="0">
                <a:solidFill>
                  <a:srgbClr val="111111"/>
                </a:solidFill>
                <a:latin typeface="Consolas"/>
              </a:rPr>
              <a:t>Q_local   [B,S,8,512]      shard</a:t>
            </a:r>
            <a:br/>
            <a:r>
              <a:rPr sz="720" b="0">
                <a:solidFill>
                  <a:srgbClr val="111111"/>
                </a:solidFill>
                <a:latin typeface="Consolas"/>
              </a:rPr>
              <a:t>KV bank   [B,P,512]        replicate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60520" y="3986784"/>
            <a:ext cx="3657600" cy="1051560"/>
          </a:xfrm>
          <a:prstGeom prst="rect">
            <a:avLst/>
          </a:prstGeom>
          <a:solidFill>
            <a:srgbClr val="F3F3F3"/>
          </a:solidFill>
          <a:ln w="11430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88536" y="4078224"/>
            <a:ext cx="340156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76700"/>
                </a:solidFill>
                <a:latin typeface="Microsoft YaHei"/>
              </a:rPr>
              <a:t>Head results → O path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88536" y="4352544"/>
            <a:ext cx="3401568" cy="6035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111111"/>
                </a:solidFill>
                <a:latin typeface="Consolas"/>
              </a:rPr>
              <a:t>o_local   [B,S,8,512]</a:t>
            </a:r>
            <a:br/>
            <a:r>
              <a:rPr sz="720" b="0">
                <a:solidFill>
                  <a:srgbClr val="111111"/>
                </a:solidFill>
                <a:latin typeface="Consolas"/>
              </a:rPr>
              <a:t>reshape   [B,S,1,4096]   (H/G=8)</a:t>
            </a:r>
            <a:br/>
            <a:r>
              <a:rPr sz="720" b="0">
                <a:solidFill>
                  <a:srgbClr val="111111"/>
                </a:solidFill>
                <a:latin typeface="Consolas"/>
              </a:rPr>
              <a:t>wo_a      [B,S,1,1024]</a:t>
            </a:r>
            <a:br/>
            <a:r>
              <a:rPr sz="720" b="0">
                <a:solidFill>
                  <a:srgbClr val="111111"/>
                </a:solidFill>
                <a:latin typeface="Consolas"/>
              </a:rPr>
              <a:t>wo_b      [B,S,1024] → partial [B,S,D]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01000" y="3986784"/>
            <a:ext cx="3840480" cy="1051560"/>
          </a:xfrm>
          <a:prstGeom prst="rect">
            <a:avLst/>
          </a:prstGeom>
          <a:solidFill>
            <a:srgbClr val="F3F3F3"/>
          </a:solidFill>
          <a:ln w="1143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129016" y="4078224"/>
            <a:ext cx="35844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72B6"/>
                </a:solidFill>
                <a:latin typeface="Microsoft YaHei"/>
              </a:rPr>
              <a:t>Candidate paths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29016" y="4352544"/>
            <a:ext cx="3584448" cy="6035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111111"/>
                </a:solidFill>
                <a:latin typeface="Consolas"/>
              </a:rPr>
              <a:t>P_raw   = causal raw window</a:t>
            </a:r>
            <a:br/>
            <a:r>
              <a:rPr sz="720" b="0">
                <a:solidFill>
                  <a:srgbClr val="111111"/>
                </a:solidFill>
                <a:latin typeface="Consolas"/>
              </a:rPr>
              <a:t>P_short = ratio-4, capped by Top-K</a:t>
            </a:r>
            <a:br/>
            <a:r>
              <a:rPr sz="720" b="0">
                <a:solidFill>
                  <a:srgbClr val="111111"/>
                </a:solidFill>
                <a:latin typeface="Consolas"/>
              </a:rPr>
              <a:t>P_long  = ratio-128 compressed KV</a:t>
            </a:r>
            <a:br/>
            <a:r>
              <a:rPr sz="720" b="0">
                <a:solidFill>
                  <a:srgbClr val="111111"/>
                </a:solidFill>
                <a:latin typeface="Consolas"/>
              </a:rPr>
              <a:t>P_index = uncapped ratio-4 scan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5266944"/>
            <a:ext cx="11521440" cy="914400"/>
          </a:xfrm>
          <a:prstGeom prst="rect">
            <a:avLst/>
          </a:prstGeom>
          <a:solidFill>
            <a:srgbClr val="EAF2F5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3776" y="5376672"/>
            <a:ext cx="11704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11111"/>
                </a:solidFill>
                <a:latin typeface="Arial"/>
              </a:rPr>
              <a:t>B  FLOPs model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55648" y="5330952"/>
            <a:ext cx="9820656" cy="6949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2E72B6"/>
                </a:solidFill>
                <a:latin typeface="Consolas"/>
              </a:rPr>
              <a:t>P_total = Lw·P_raw + Ls·(P_raw+P_short) + Ll·(P_raw+P_long)</a:t>
            </a:r>
            <a:br/>
            <a:r>
              <a:rPr sz="740" b="1">
                <a:solidFill>
                  <a:srgbClr val="2E72B6"/>
                </a:solidFill>
                <a:latin typeface="Consolas"/>
              </a:rPr>
              <a:t>F_sparse,global = 4·B·H·d·P_total    |    F_sparse,rank = 4·B·max(H/TP,16)·d·P_total</a:t>
            </a:r>
            <a:br/>
            <a:r>
              <a:rPr sz="740" b="1">
                <a:solidFill>
                  <a:srgbClr val="2E72B6"/>
                </a:solidFill>
                <a:latin typeface="Consolas"/>
              </a:rPr>
              <a:t>F_proj,rank = 2·B·S·L·[Dq + q(H/TP)d + Dd + (H/TP)dr + (G/TP)rD]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3776" y="6254496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Consolas"/>
              </a:rPr>
              <a:t>W=128 · H=64 · d=512 · G=8 · TP=8 · kernel_min_heads=16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51775" y="6254496"/>
            <a:ext cx="4489704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F7D"/>
                </a:solidFill>
                <a:latin typeface="Consolas"/>
              </a:rPr>
              <a:t>source  inference/model.py  ·  calculate/generate_calculator.py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MLA Attention TP8 Parallelism</dc:title>
  <dc:subject>DeepSeek V4 Flash attention tensor parallelism and FLOPs formulas</dc:subject>
  <dc:creator>DeepSeek V4 Flash repository</dc:creator>
  <cp:keywords/>
  <dc:description>Editable one-slide overview generated from inference/model.py and calculate/generate_calculator.py.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