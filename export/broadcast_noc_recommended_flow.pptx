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164592"/>
            <a:ext cx="95097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11111"/>
                </a:solidFill>
                <a:latin typeface="Microsoft YaHei"/>
              </a:rPr>
              <a:t>8 核 Broadcast 推荐执行流程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6344" y="557784"/>
            <a:ext cx="1078992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0" b="0">
                <a:solidFill>
                  <a:srgbClr val="555555"/>
                </a:solidFill>
                <a:latin typeface="Microsoft YaHei"/>
              </a:rPr>
              <a:t>一个源 Core，多个目标 Core：NoC 负责一源多目的复制，目标端写入本地内存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64040" y="557784"/>
            <a:ext cx="2057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11111"/>
                </a:solidFill>
                <a:latin typeface="Consolas"/>
              </a:rPr>
              <a:t>Y_i = X_0   (i=0,…,7)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58952"/>
            <a:ext cx="7059168" cy="1554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555555"/>
                </a:solidFill>
                <a:latin typeface="Microsoft YaHei"/>
              </a:rPr>
              <a:t>推荐数据流 / Core_i 视角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18704" y="758952"/>
            <a:ext cx="3694176" cy="1554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>
                <a:solidFill>
                  <a:srgbClr val="555555"/>
                </a:solidFill>
                <a:latin typeface="Microsoft YaHei"/>
              </a:rPr>
              <a:t>NoC 必备能力</a:t>
            </a:r>
          </a:p>
        </p:txBody>
      </p:sp>
      <p:sp>
        <p:nvSpPr>
          <p:cNvPr id="7" name="Oval 6"/>
          <p:cNvSpPr/>
          <p:nvPr/>
        </p:nvSpPr>
        <p:spPr>
          <a:xfrm>
            <a:off x="1417320" y="932688"/>
            <a:ext cx="5102352" cy="310896"/>
          </a:xfrm>
          <a:prstGeom prst="ellipse">
            <a:avLst/>
          </a:prstGeom>
          <a:solidFill>
            <a:srgbClr val="FFFFFF"/>
          </a:solidFill>
          <a:ln w="1714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45336" y="969264"/>
            <a:ext cx="48463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1">
                <a:solidFill>
                  <a:srgbClr val="111111"/>
                </a:solidFill>
                <a:latin typeface="Microsoft YaHei"/>
              </a:rPr>
              <a:t>开始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63624" y="1161288"/>
            <a:ext cx="4809744" cy="3657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11111"/>
                </a:solidFill>
                <a:latin typeface="Microsoft YaHei"/>
              </a:rPr>
              <a:t>Core_0 … Core_7 同时启动 Broadcast(root=0)</a:t>
            </a:r>
          </a:p>
        </p:txBody>
      </p:sp>
      <p:sp>
        <p:nvSpPr>
          <p:cNvPr id="10" name="Down Arrow 9"/>
          <p:cNvSpPr/>
          <p:nvPr/>
        </p:nvSpPr>
        <p:spPr>
          <a:xfrm>
            <a:off x="3749039" y="1271016"/>
            <a:ext cx="228600" cy="128016"/>
          </a:xfrm>
          <a:prstGeom prst="downArrow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" y="1380744"/>
            <a:ext cx="7059168" cy="310896"/>
          </a:xfrm>
          <a:prstGeom prst="rect">
            <a:avLst/>
          </a:prstGeom>
          <a:solidFill>
            <a:srgbClr val="FFFFFF"/>
          </a:solidFill>
          <a:ln w="1524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" y="1426464"/>
            <a:ext cx="254203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1">
                <a:solidFill>
                  <a:srgbClr val="111111"/>
                </a:solidFill>
                <a:latin typeface="Microsoft YaHei"/>
              </a:rPr>
              <a:t>准备目标缓冲区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18103" y="1426464"/>
            <a:ext cx="424281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111111"/>
                </a:solidFill>
                <a:latin typeface="Consolas"/>
              </a:rPr>
              <a:t>all Core: B_i[S]；sync_prepare()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3749039" y="1719072"/>
            <a:ext cx="228600" cy="128016"/>
          </a:xfrm>
          <a:prstGeom prst="downArrow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" y="1828800"/>
            <a:ext cx="7059168" cy="356616"/>
          </a:xfrm>
          <a:prstGeom prst="rect">
            <a:avLst/>
          </a:prstGeom>
          <a:solidFill>
            <a:srgbClr val="FFFFFF"/>
          </a:solidFill>
          <a:ln w="1524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" y="1874519"/>
            <a:ext cx="2706624" cy="26517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1">
                <a:solidFill>
                  <a:srgbClr val="111111"/>
                </a:solidFill>
                <a:latin typeface="Microsoft YaHei"/>
              </a:rPr>
              <a:t>源 Core 提交一次 BCAST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82696" y="1874519"/>
            <a:ext cx="4078224" cy="26517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11111"/>
                </a:solidFill>
                <a:latin typeface="Consolas"/>
              </a:rPr>
              <a:t>Core_0: src=X_0；dst={1,…,7}；bytes=S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3749039" y="2221992"/>
            <a:ext cx="228600" cy="128016"/>
          </a:xfrm>
          <a:prstGeom prst="downArrow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8912" y="2331720"/>
            <a:ext cx="7059168" cy="356616"/>
          </a:xfrm>
          <a:prstGeom prst="rect">
            <a:avLst/>
          </a:prstGeom>
          <a:solidFill>
            <a:srgbClr val="FFFFFF"/>
          </a:solidFill>
          <a:ln w="1524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" y="2377439"/>
            <a:ext cx="2304288" cy="26517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1">
                <a:solidFill>
                  <a:srgbClr val="111111"/>
                </a:solidFill>
                <a:latin typeface="Microsoft YaHei"/>
              </a:rPr>
              <a:t>NoC 读取并分包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360" y="2377439"/>
            <a:ext cx="4480559" cy="26517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111111"/>
                </a:solidFill>
                <a:latin typeface="Consolas"/>
              </a:rPr>
              <a:t>DMA read(X_0) → packetize；源端只注入 1 次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3749039" y="2724912"/>
            <a:ext cx="228600" cy="128016"/>
          </a:xfrm>
          <a:prstGeom prst="downArrow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8912" y="2834640"/>
            <a:ext cx="7059168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72" y="2880360"/>
            <a:ext cx="2487168" cy="29260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1">
                <a:solidFill>
                  <a:srgbClr val="111111"/>
                </a:solidFill>
                <a:latin typeface="Microsoft YaHei"/>
              </a:rPr>
              <a:t>NoC 组播路由与复制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63240" y="2880360"/>
            <a:ext cx="4297680" cy="29260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11111"/>
                </a:solidFill>
                <a:latin typeface="Consolas"/>
              </a:rPr>
              <a:t>multicast tree：在分支处复制 packet/flit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3749039" y="3246120"/>
            <a:ext cx="228600" cy="128016"/>
          </a:xfrm>
          <a:prstGeom prst="downArrow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8912" y="3355848"/>
            <a:ext cx="7059168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6072" y="3401568"/>
            <a:ext cx="2487168" cy="29260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1">
                <a:solidFill>
                  <a:srgbClr val="111111"/>
                </a:solidFill>
                <a:latin typeface="Microsoft YaHei"/>
              </a:rPr>
              <a:t>目标端点远程写入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63240" y="3401568"/>
            <a:ext cx="4297680" cy="29260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0" b="0">
                <a:solidFill>
                  <a:srgbClr val="111111"/>
                </a:solidFill>
                <a:latin typeface="Consolas"/>
              </a:rPr>
              <a:t>Core_j endpoint: B_j ← X_0；local_done_j=1</a:t>
            </a:r>
          </a:p>
        </p:txBody>
      </p:sp>
      <p:sp>
        <p:nvSpPr>
          <p:cNvPr id="30" name="Down Arrow 29"/>
          <p:cNvSpPr/>
          <p:nvPr/>
        </p:nvSpPr>
        <p:spPr>
          <a:xfrm>
            <a:off x="3749039" y="3767328"/>
            <a:ext cx="228600" cy="128016"/>
          </a:xfrm>
          <a:prstGeom prst="downArrow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8912" y="3877056"/>
            <a:ext cx="7059168" cy="356616"/>
          </a:xfrm>
          <a:prstGeom prst="rect">
            <a:avLst/>
          </a:prstGeom>
          <a:solidFill>
            <a:srgbClr val="FFFFFF"/>
          </a:solidFill>
          <a:ln w="1524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6072" y="3922776"/>
            <a:ext cx="1508760" cy="26517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1">
                <a:solidFill>
                  <a:srgbClr val="111111"/>
                </a:solidFill>
                <a:latin typeface="Microsoft YaHei"/>
              </a:rPr>
              <a:t>completion / 完成确认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3922776"/>
            <a:ext cx="5276088" cy="26517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>
                <a:solidFill>
                  <a:srgbClr val="111111"/>
                </a:solidFill>
                <a:latin typeface="Consolas"/>
              </a:rPr>
              <a:t>completion: ACK / done_bitmap = 11111110</a:t>
            </a:r>
          </a:p>
        </p:txBody>
      </p:sp>
      <p:sp>
        <p:nvSpPr>
          <p:cNvPr id="34" name="Down Arrow 33"/>
          <p:cNvSpPr/>
          <p:nvPr/>
        </p:nvSpPr>
        <p:spPr>
          <a:xfrm>
            <a:off x="3749039" y="4279392"/>
            <a:ext cx="228600" cy="128016"/>
          </a:xfrm>
          <a:prstGeom prst="downArrow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8912" y="4389120"/>
            <a:ext cx="7059168" cy="347472"/>
          </a:xfrm>
          <a:prstGeom prst="rect">
            <a:avLst/>
          </a:prstGeom>
          <a:solidFill>
            <a:srgbClr val="FFFFFF"/>
          </a:solidFill>
          <a:ln w="1524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6072" y="4434840"/>
            <a:ext cx="202996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1">
                <a:solidFill>
                  <a:srgbClr val="111111"/>
                </a:solidFill>
                <a:latin typeface="Microsoft YaHei"/>
              </a:rPr>
              <a:t>顺序与集合同步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06040" y="4434840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11111"/>
                </a:solidFill>
                <a:latin typeface="Consolas"/>
              </a:rPr>
              <a:t>fence core_0 → sync(core_0,…,core_7)</a:t>
            </a:r>
          </a:p>
        </p:txBody>
      </p:sp>
      <p:sp>
        <p:nvSpPr>
          <p:cNvPr id="38" name="Down Arrow 37"/>
          <p:cNvSpPr/>
          <p:nvPr/>
        </p:nvSpPr>
        <p:spPr>
          <a:xfrm>
            <a:off x="3749039" y="4818888"/>
            <a:ext cx="228600" cy="128016"/>
          </a:xfrm>
          <a:prstGeom prst="downArrow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38912" y="4928616"/>
            <a:ext cx="7059168" cy="320040"/>
          </a:xfrm>
          <a:prstGeom prst="rect">
            <a:avLst/>
          </a:prstGeom>
          <a:solidFill>
            <a:srgbClr val="FFFFFF"/>
          </a:solidFill>
          <a:ln w="1524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76072" y="4974336"/>
            <a:ext cx="2578608" cy="2285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1">
                <a:solidFill>
                  <a:srgbClr val="111111"/>
                </a:solidFill>
                <a:latin typeface="Microsoft YaHei"/>
              </a:rPr>
              <a:t>所有 Core 使用本地副本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54679" y="4974336"/>
            <a:ext cx="4206240" cy="22859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111111"/>
                </a:solidFill>
                <a:latin typeface="Consolas"/>
              </a:rPr>
              <a:t>B_i = X_0</a:t>
            </a:r>
          </a:p>
        </p:txBody>
      </p:sp>
      <p:sp>
        <p:nvSpPr>
          <p:cNvPr id="42" name="Down Arrow 41"/>
          <p:cNvSpPr/>
          <p:nvPr/>
        </p:nvSpPr>
        <p:spPr>
          <a:xfrm>
            <a:off x="3749039" y="5303520"/>
            <a:ext cx="228600" cy="128016"/>
          </a:xfrm>
          <a:prstGeom prst="downArrow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417320" y="5431536"/>
            <a:ext cx="5102352" cy="338328"/>
          </a:xfrm>
          <a:prstGeom prst="ellipse">
            <a:avLst/>
          </a:prstGeom>
          <a:solidFill>
            <a:srgbClr val="FFFFFF"/>
          </a:solidFill>
          <a:ln w="17145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545336" y="5468112"/>
            <a:ext cx="48463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1">
                <a:solidFill>
                  <a:srgbClr val="111111"/>
                </a:solidFill>
                <a:latin typeface="Microsoft YaHei"/>
              </a:rPr>
              <a:t>结束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563624" y="5660136"/>
            <a:ext cx="4809744" cy="640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11111"/>
                </a:solidFill>
                <a:latin typeface="Microsoft YaHei"/>
              </a:rPr>
              <a:t>Broadcast 完成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918704" y="1005840"/>
            <a:ext cx="3694176" cy="5650992"/>
          </a:xfrm>
          <a:prstGeom prst="rect">
            <a:avLst/>
          </a:prstGeom>
          <a:solidFill>
            <a:srgbClr val="F3F3F3"/>
          </a:solidFill>
          <a:ln w="127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101583" y="1225296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1">
                <a:solidFill>
                  <a:srgbClr val="111111"/>
                </a:solidFill>
                <a:latin typeface="Microsoft YaHei"/>
              </a:rPr>
              <a:t>数据面 + 控制面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01583" y="1664208"/>
            <a:ext cx="246888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11111"/>
                </a:solidFill>
                <a:latin typeface="Consolas"/>
              </a:rPr>
              <a:t>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39912" y="1664208"/>
            <a:ext cx="288950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1">
                <a:solidFill>
                  <a:srgbClr val="111111"/>
                </a:solidFill>
                <a:latin typeface="Microsoft YaHei"/>
              </a:rPr>
              <a:t>Broadcast 事务头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39912" y="1874520"/>
            <a:ext cx="2889504" cy="2834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55555"/>
                </a:solidFill>
                <a:latin typeface="Microsoft YaHei"/>
              </a:rPr>
              <a:t>root / dst_group / src / dst_offset / bytes / seq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01583" y="2359152"/>
            <a:ext cx="246888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11111"/>
                </a:solidFill>
                <a:latin typeface="Consolas"/>
              </a:rPr>
              <a:t>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39912" y="2359152"/>
            <a:ext cx="288950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1">
                <a:solidFill>
                  <a:srgbClr val="111111"/>
                </a:solidFill>
                <a:latin typeface="Microsoft YaHei"/>
              </a:rPr>
              <a:t>组播路由与复制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39912" y="2569464"/>
            <a:ext cx="2889504" cy="2834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55555"/>
                </a:solidFill>
                <a:latin typeface="Microsoft YaHei"/>
              </a:rPr>
              <a:t>路由树；分支复制；避免重复包和环路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01583" y="3054096"/>
            <a:ext cx="246888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11111"/>
                </a:solidFill>
                <a:latin typeface="Consolas"/>
              </a:rPr>
              <a:t>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39912" y="3054096"/>
            <a:ext cx="288950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1">
                <a:solidFill>
                  <a:srgbClr val="111111"/>
                </a:solidFill>
                <a:latin typeface="Microsoft YaHei"/>
              </a:rPr>
              <a:t>remote DMA + endpoint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39912" y="3264408"/>
            <a:ext cx="2889504" cy="2834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55555"/>
                </a:solidFill>
                <a:latin typeface="Microsoft YaHei"/>
              </a:rPr>
              <a:t>源读、burst 传输、目标本地 SRAM/DRAM 写入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01583" y="3749039"/>
            <a:ext cx="246888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11111"/>
                </a:solidFill>
                <a:latin typeface="Consolas"/>
              </a:rPr>
              <a:t>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39912" y="3749039"/>
            <a:ext cx="288950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1">
                <a:solidFill>
                  <a:srgbClr val="111111"/>
                </a:solidFill>
                <a:latin typeface="Microsoft YaHei"/>
              </a:rPr>
              <a:t>FIFO 与流控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439912" y="3959352"/>
            <a:ext cx="2889504" cy="2834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55555"/>
                </a:solidFill>
                <a:latin typeface="Microsoft YaHei"/>
              </a:rPr>
              <a:t>credit / backpressure；处理慢目标和拥塞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101583" y="4443983"/>
            <a:ext cx="246888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11111"/>
                </a:solidFill>
                <a:latin typeface="Consolas"/>
              </a:rPr>
              <a:t>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39912" y="4443983"/>
            <a:ext cx="288950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1">
                <a:solidFill>
                  <a:srgbClr val="111111"/>
                </a:solidFill>
                <a:latin typeface="Microsoft YaHei"/>
              </a:rPr>
              <a:t>完成与错误反馈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439912" y="4654296"/>
            <a:ext cx="2889504" cy="2834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55555"/>
                </a:solidFill>
                <a:latin typeface="Microsoft YaHei"/>
              </a:rPr>
              <a:t>DMA done、ACK bitmap、timeout、error code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01583" y="5138927"/>
            <a:ext cx="246888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11111"/>
                </a:solidFill>
                <a:latin typeface="Consolas"/>
              </a:rPr>
              <a:t>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439912" y="5138927"/>
            <a:ext cx="2889504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1">
                <a:solidFill>
                  <a:srgbClr val="111111"/>
                </a:solidFill>
                <a:latin typeface="Microsoft YaHei"/>
              </a:rPr>
              <a:t>顺序与内存可见性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439912" y="5349240"/>
            <a:ext cx="2889504" cy="28346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55555"/>
                </a:solidFill>
                <a:latin typeface="Microsoft YaHei"/>
              </a:rPr>
              <a:t>payload → fence → ready；release/acquire、coherence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101583" y="5897880"/>
            <a:ext cx="3200400" cy="10972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101583" y="6080760"/>
            <a:ext cx="320040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111111"/>
                </a:solidFill>
                <a:latin typeface="Microsoft YaHei"/>
              </a:rPr>
              <a:t>无需 Reduce Engine：Broadcast 只复制数据，不做数值相加。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01583" y="6483096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0" b="0">
                <a:solidFill>
                  <a:srgbClr val="555555"/>
                </a:solidFill>
                <a:latin typeface="Microsoft YaHei"/>
              </a:rPr>
              <a:t>软件提交 1 个 BCAST；NoC 内部完成复制与转发。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8 核 Broadcast 推荐执行流程与 NoC 能力</dc:title>
  <dc:subject>Recommended remote-memory broadcast flow and NoC requirements</dc:subject>
  <dc:creator>DeepSeek-V4 Flash repository</dc:creator>
  <cp:keywords/>
  <dc:description>Editable one-slide black-and-white Broadcast flowchart with NoC capability annotations.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