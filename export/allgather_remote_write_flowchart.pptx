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73736"/>
            <a:ext cx="11201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11111"/>
                </a:solidFill>
                <a:latin typeface="Microsoft YaHei"/>
              </a:rPr>
              <a:t>8 核远程写入 AllGather 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6344" y="557784"/>
            <a:ext cx="67665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</a:rPr>
              <a:t>Core_i 视角：8 个核心同时执行同一个 AllGather 算子</a:t>
            </a:r>
          </a:p>
        </p:txBody>
      </p:sp>
      <p:sp>
        <p:nvSpPr>
          <p:cNvPr id="4" name="Oval 3"/>
          <p:cNvSpPr/>
          <p:nvPr/>
        </p:nvSpPr>
        <p:spPr>
          <a:xfrm>
            <a:off x="1901952" y="868680"/>
            <a:ext cx="4791456" cy="512064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93392" y="923544"/>
            <a:ext cx="46085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111"/>
                </a:solidFill>
                <a:latin typeface="Microsoft YaHei"/>
              </a:rPr>
              <a:t>开始</a:t>
            </a:r>
            <a:br/>
            <a:r>
              <a:rPr sz="1150" b="0">
                <a:solidFill>
                  <a:srgbClr val="111111"/>
                </a:solidFill>
                <a:latin typeface="Microsoft YaHei"/>
              </a:rPr>
              <a:t>8 个核心同时启动 AllGather</a:t>
            </a:r>
          </a:p>
        </p:txBody>
      </p:sp>
      <p:sp>
        <p:nvSpPr>
          <p:cNvPr id="6" name="Down Arrow 5"/>
          <p:cNvSpPr/>
          <p:nvPr/>
        </p:nvSpPr>
        <p:spPr>
          <a:xfrm>
            <a:off x="3730752" y="1426464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64208" y="1600200"/>
            <a:ext cx="5266944" cy="475488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55648" y="1655064"/>
            <a:ext cx="508406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11111"/>
                </a:solidFill>
                <a:latin typeface="Consolas"/>
              </a:rPr>
              <a:t>Core_i 获取本地分片：  X_i  [C bytes]</a:t>
            </a:r>
          </a:p>
        </p:txBody>
      </p:sp>
      <p:sp>
        <p:nvSpPr>
          <p:cNvPr id="9" name="Down Arrow 8"/>
          <p:cNvSpPr/>
          <p:nvPr/>
        </p:nvSpPr>
        <p:spPr>
          <a:xfrm>
            <a:off x="3730752" y="2112264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2286000"/>
            <a:ext cx="5824728" cy="438912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340864"/>
            <a:ext cx="564184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111111"/>
                </a:solidFill>
                <a:latin typeface="Consolas"/>
              </a:rPr>
              <a:t>准备接收缓冲区：  Y_i[0:8]    （8 个 slot，每个 C bytes）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730752" y="2779776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01952" y="2953512"/>
            <a:ext cx="4791456" cy="484632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93392" y="3008376"/>
            <a:ext cx="4608576" cy="3749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Consolas"/>
              </a:rPr>
              <a:t>本地放置自己的分片：  Y_i[i]  ←  X_i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730752" y="3447288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" y="3621024"/>
            <a:ext cx="6876288" cy="576072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675887"/>
            <a:ext cx="6693407" cy="4663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11111"/>
                </a:solidFill>
                <a:latin typeface="Consolas"/>
              </a:rPr>
              <a:t>向其他 7 个核心远程写入：</a:t>
            </a:r>
            <a:br/>
            <a:r>
              <a:rPr sz="1080" b="0">
                <a:solidFill>
                  <a:srgbClr val="111111"/>
                </a:solidFill>
                <a:latin typeface="Consolas"/>
              </a:rPr>
              <a:t>Y_j[i]  ←  X_i，  j ∈ {0,…,7} 且 j ≠ i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730752" y="4251960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93392" y="4416552"/>
            <a:ext cx="4608576" cy="475488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84832" y="4471416"/>
            <a:ext cx="442569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Consolas"/>
              </a:rPr>
              <a:t>fence  core_i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730752" y="4937760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17904" y="5102352"/>
            <a:ext cx="5559552" cy="512064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9344" y="5157216"/>
            <a:ext cx="5376672" cy="4023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11111"/>
                </a:solidFill>
                <a:latin typeface="Consolas"/>
              </a:rPr>
              <a:t>sync  (core_0, …, core_7)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3730752" y="5687568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73936" y="5852160"/>
            <a:ext cx="5047488" cy="484632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65376" y="5907024"/>
            <a:ext cx="4864607" cy="3749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111111"/>
                </a:solidFill>
                <a:latin typeface="Consolas"/>
              </a:rPr>
              <a:t>读取完整接收缓冲区：  Y_i[0:8] = [X_0, X_1, …, X_7]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3730752" y="6309360"/>
            <a:ext cx="228600" cy="137160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84831" y="6473952"/>
            <a:ext cx="4425696" cy="329184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76272" y="6528816"/>
            <a:ext cx="424281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11111"/>
                </a:solidFill>
                <a:latin typeface="Microsoft YaHei"/>
              </a:rPr>
              <a:t>结束：AllGather 完成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18704" y="868680"/>
            <a:ext cx="3694176" cy="5449824"/>
          </a:xfrm>
          <a:prstGeom prst="rect">
            <a:avLst/>
          </a:prstGeom>
          <a:solidFill>
            <a:srgbClr val="F3F3F3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6" y="1060704"/>
            <a:ext cx="3364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11111"/>
                </a:solidFill>
                <a:latin typeface="Microsoft YaHei"/>
              </a:rPr>
              <a:t>符号说明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1417320"/>
            <a:ext cx="318211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11111"/>
                </a:solidFill>
                <a:latin typeface="Consolas"/>
              </a:rPr>
              <a:t>8 个核心编号：core_0 … core_7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1810512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1111"/>
                </a:solidFill>
                <a:latin typeface="Consolas"/>
              </a:rPr>
              <a:t>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0848" y="1810512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11111"/>
                </a:solidFill>
                <a:latin typeface="Microsoft YaHei"/>
              </a:rPr>
              <a:t>当前核心编号，i=0,…,7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185416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1111"/>
                </a:solidFill>
                <a:latin typeface="Consolas"/>
              </a:rPr>
              <a:t>j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0848" y="2185416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11111"/>
                </a:solidFill>
                <a:latin typeface="Microsoft YaHei"/>
              </a:rPr>
              <a:t>目标核心编号，j≠i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2560320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1111"/>
                </a:solidFill>
                <a:latin typeface="Consolas"/>
              </a:rPr>
              <a:t>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0848" y="256032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11111"/>
                </a:solidFill>
                <a:latin typeface="Microsoft YaHei"/>
              </a:rPr>
              <a:t>一个分片的字节数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2935224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1111"/>
                </a:solidFill>
                <a:latin typeface="Consolas"/>
              </a:rPr>
              <a:t>X_i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0848" y="2935224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11111"/>
                </a:solidFill>
                <a:latin typeface="Microsoft YaHei"/>
              </a:rPr>
              <a:t>Core_i 持有的本地分片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331012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11111"/>
                </a:solidFill>
                <a:latin typeface="Consolas"/>
              </a:rPr>
              <a:t>Y_i[k]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0848" y="331012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11111"/>
                </a:solidFill>
                <a:latin typeface="Microsoft YaHei"/>
              </a:rPr>
              <a:t>Core_i 缓冲区第 k 个 slot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3685032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11111"/>
                </a:solidFill>
                <a:latin typeface="Consolas"/>
              </a:rPr>
              <a:t>Y_j[i]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70848" y="3685032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11111"/>
                </a:solidFill>
                <a:latin typeface="Microsoft YaHei"/>
              </a:rPr>
              <a:t>Core_j 的第 i 个接收 slot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4059936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111"/>
                </a:solidFill>
                <a:latin typeface="Consolas"/>
              </a:rPr>
              <a:t>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70848" y="4059936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11111"/>
                </a:solidFill>
                <a:latin typeface="Microsoft YaHei"/>
              </a:rPr>
              <a:t>数据写入方向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4434840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Consolas"/>
              </a:rPr>
              <a:t>fence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70848" y="443484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11111"/>
                </a:solidFill>
                <a:latin typeface="Microsoft YaHei"/>
              </a:rPr>
              <a:t>远程写入有序并对后续可见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4809744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Consolas"/>
              </a:rPr>
              <a:t>sync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70848" y="4809744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11111"/>
                </a:solidFill>
                <a:latin typeface="Microsoft YaHei"/>
              </a:rPr>
              <a:t>8 个核心的集合屏障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83296" y="5285232"/>
            <a:ext cx="3291840" cy="1097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83296" y="5458968"/>
            <a:ext cx="3182112" cy="4937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11111"/>
                </a:solidFill>
                <a:latin typeface="Microsoft YaHei"/>
              </a:rPr>
              <a:t>AllGather：只搬运并拼接分片，</a:t>
            </a:r>
            <a:br/>
            <a:r>
              <a:rPr sz="919" b="1">
                <a:solidFill>
                  <a:srgbClr val="111111"/>
                </a:solidFill>
                <a:latin typeface="Microsoft YaHei"/>
              </a:rPr>
              <a:t>不做数值相加。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83296" y="6016752"/>
            <a:ext cx="318211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111111"/>
                </a:solidFill>
                <a:latin typeface="Microsoft YaHei"/>
              </a:rPr>
              <a:t>单个 Core_i：本地 1 次放置 + 远程 7 次写入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 核远程写入 AllGather 流程图</dc:title>
  <dc:subject>Simple top-down AllGather flowchart with symbol definitions</dc:subject>
  <dc:creator>DeepSeek-V4 Flash repository</dc:creator>
  <cp:keywords/>
  <dc:description>Editable black-and-white one-slide flowchart for the remote-write AllGather path.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