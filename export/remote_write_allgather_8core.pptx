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7782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>
                <a:solidFill>
                  <a:srgbClr val="C00000"/>
                </a:solidFill>
                <a:latin typeface="Microsoft YaHei"/>
              </a:rPr>
              <a:t>8 核远程写入版 AllGather：算子执行流程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76072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55555"/>
                </a:solidFill>
                <a:latin typeface="Microsoft YaHei"/>
              </a:rPr>
              <a:t>八个核心同时启动同一个 collective operator；每个源分片写入其他 7 个核心的远程接收槽位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" y="877824"/>
            <a:ext cx="11530584" cy="310896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941832"/>
            <a:ext cx="71323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Microsoft YaHei"/>
              </a:rPr>
              <a:t>核心语义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941832"/>
            <a:ext cx="104241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Consolas"/>
              </a:rPr>
              <a:t>Y_j[i] = X_i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941832"/>
            <a:ext cx="21214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42C3A"/>
                </a:solidFill>
                <a:latin typeface="Microsoft YaHei"/>
              </a:rPr>
              <a:t>目标核 j 的第 i 个接收槽位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941832"/>
            <a:ext cx="31089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E72B6"/>
                </a:solidFill>
                <a:latin typeface="Microsoft YaHei"/>
              </a:rPr>
              <a:t>AllGather = 搬运 + 拼接，不做数值相加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41864" y="941832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B76700"/>
                </a:solidFill>
                <a:latin typeface="Consolas"/>
              </a:rPr>
              <a:t>C = S /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271016"/>
            <a:ext cx="11530584" cy="43525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335024"/>
            <a:ext cx="60350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6F7D"/>
                </a:solidFill>
                <a:latin typeface="Arial"/>
              </a:rPr>
              <a:t>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33502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6F7D"/>
                </a:solidFill>
                <a:latin typeface="Arial"/>
              </a:rP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33502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6F7D"/>
                </a:solidFill>
                <a:latin typeface="Arial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335024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6F7D"/>
                </a:solidFill>
                <a:latin typeface="Arial"/>
              </a:rPr>
              <a:t>OWN SLOT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3350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5B6F7D"/>
                </a:solidFill>
                <a:latin typeface="Arial"/>
              </a:rPr>
              <a:t>REMOTE WRITE / NoC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335024"/>
            <a:ext cx="10698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6F7D"/>
                </a:solidFill>
                <a:latin typeface="Arial"/>
              </a:rPr>
              <a:t>ORDER +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335024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B6F7D"/>
                </a:solidFill>
                <a:latin typeface="Arial"/>
              </a:rPr>
              <a:t>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335024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5B6F7D"/>
                </a:solidFill>
                <a:latin typeface="Arial"/>
              </a:rPr>
              <a:t>LOCAL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1664207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691639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1664207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1691639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1664207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75104" y="1691639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X0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1664207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1691639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Y0[0]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39312" y="1664207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4176" y="1691639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X0 → Yj[0]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0  ·  7 × 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8232" y="1664207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1691639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ready_j[0]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1664207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1691639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ready_0[0:8]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1664207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1691639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Y0 = [X0, X1, …, X7]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9092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7772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8164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7084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2652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7052" y="1682495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" y="2112263"/>
            <a:ext cx="11439144" cy="4663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2336" y="2148839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2176271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" y="2148839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6424" y="2176271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2148839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75104" y="2176271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X1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88920" y="2148839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43784" y="2176271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Y1[1]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39312" y="2148839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94176" y="2176271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X1 → Yj[1]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1  ·  7 × put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2148839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2176271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ready_j[1]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3800" y="2148839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98664" y="2176271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ready_1[0:8]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58200" y="2148839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3064" y="2176271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Y1 = [X0, X1, …, X7]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412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79092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7772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98164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87084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02652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7052" y="2167127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" y="2633472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2660903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51560" y="2633472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6424" y="2660903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920240" y="2633472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75104" y="2660903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X2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88920" y="2633472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43784" y="2660903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Y2[2]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39312" y="2633472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94176" y="2660903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X2 → Yj[2]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2  ·  7 × put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28232" y="2633472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83096" y="2660903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ready_j[2]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543800" y="2633472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98664" y="2660903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ready_2[0:8]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58200" y="2633472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13064" y="2660903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Y2 = [X0, X1, …, X7]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79092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7772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98164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87084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02652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7052" y="2651760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904" y="3081528"/>
            <a:ext cx="11439144" cy="4663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02336" y="3118104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3145536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51560" y="3118104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6424" y="3145536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920240" y="3118104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75104" y="3145536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X3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88920" y="3118104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43784" y="3145536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Y3[3]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X3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639312" y="3118104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94176" y="3145536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X3 → Yj[3]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3  ·  7 × put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28232" y="3118104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83096" y="3145536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ready_j[3]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543800" y="3118104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98664" y="3145536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ready_3[0:8]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458200" y="3118104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13064" y="3145536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Y3 = [X0, X1, …, X7]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0412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79092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7772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98164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87084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02652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7052" y="3136392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02336" y="3602736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7200" y="3630168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51560" y="3602736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06424" y="3630168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920240" y="3602736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975104" y="3630168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X4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788920" y="3602736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843784" y="3630168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Y4[4]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X4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639312" y="3602736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94176" y="3630168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X4 → Yj[4]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4  ·  7 × put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428232" y="3602736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83096" y="3630168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ready_j[4]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543800" y="3602736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598664" y="3630168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ready_4[0:8]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458200" y="3602736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13064" y="3630168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Y4 = [X0, X1, …, X7]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0412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79092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7772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98164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87084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02652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7052" y="3621024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74904" y="4050792"/>
            <a:ext cx="11439144" cy="4663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402336" y="4087368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57200" y="4114800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5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51560" y="4087368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06424" y="4114800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920240" y="4087368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75104" y="4114800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X5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788920" y="4087368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843784" y="4114800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Y5[5]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X5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39312" y="4087368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94176" y="4114800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X5 → Yj[5]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5  ·  7 × put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428232" y="4087368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83096" y="4114800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ready_j[5]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43800" y="4087368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598664" y="4114800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ready_5[0:8]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458200" y="4087368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513064" y="4114800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Y5 = [X0, X1, …, X7]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10412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879092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47772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98164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87084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02652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417052" y="4105656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02336" y="4572000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57200" y="4599432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6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51560" y="4572000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06424" y="4599432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920240" y="4572000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975104" y="4599432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X6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788920" y="4572000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843784" y="4599432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Y6[6]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X6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639312" y="4572000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94176" y="4599432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X6 → Yj[6]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6  ·  7 × put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428232" y="4572000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483096" y="4599432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ready_j[6]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543800" y="4572000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598664" y="4599432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ready_6[0:8]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458200" y="4572000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513064" y="4599432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Y6 = [X0, X1, …, X7]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10412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879092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747772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598164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387084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502652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417052" y="4590288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74904" y="5020055"/>
            <a:ext cx="11439144" cy="4663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402336" y="5056631"/>
            <a:ext cx="603504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57200" y="5084064"/>
            <a:ext cx="493776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Core 7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051560" y="5056631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06424" y="5084064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11111"/>
                </a:solidFill>
                <a:latin typeface="Microsoft YaHei"/>
              </a:rPr>
              <a:t>start</a:t>
            </a:r>
            <a:br/>
            <a:r>
              <a:rPr sz="730" b="1">
                <a:solidFill>
                  <a:srgbClr val="111111"/>
                </a:solidFill>
                <a:latin typeface="Microsoft YaHei"/>
              </a:rPr>
              <a:t>AllGather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920240" y="5056631"/>
            <a:ext cx="82296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975104" y="5084064"/>
            <a:ext cx="71323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X7</a:t>
            </a:r>
            <a:br/>
            <a:r>
              <a:rPr sz="800" b="1">
                <a:solidFill>
                  <a:srgbClr val="111111"/>
                </a:solidFill>
                <a:latin typeface="Consolas"/>
              </a:rPr>
              <a:t>[C]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2788920" y="5056631"/>
            <a:ext cx="804672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843784" y="5084064"/>
            <a:ext cx="694944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Y7[7]</a:t>
            </a:r>
            <a:br/>
            <a:r>
              <a:rPr sz="700" b="1">
                <a:solidFill>
                  <a:srgbClr val="111111"/>
                </a:solidFill>
                <a:latin typeface="Consolas"/>
              </a:rPr>
              <a:t>= X7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3639312" y="5056631"/>
            <a:ext cx="2743200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694176" y="5084064"/>
            <a:ext cx="263347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11111"/>
                </a:solidFill>
                <a:latin typeface="Consolas"/>
              </a:rPr>
              <a:t>remote_write: X7 → Yj[7]</a:t>
            </a:r>
            <a:br/>
            <a:r>
              <a:rPr sz="710" b="1">
                <a:solidFill>
                  <a:srgbClr val="111111"/>
                </a:solidFill>
                <a:latin typeface="Consolas"/>
              </a:rPr>
              <a:t>j ≠ 7  ·  7 × put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428232" y="5056631"/>
            <a:ext cx="1069848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483096" y="5084064"/>
            <a:ext cx="960119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11111"/>
                </a:solidFill>
                <a:latin typeface="Consolas"/>
              </a:rPr>
              <a:t>fence → ready_j[7]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7543800" y="5056631"/>
            <a:ext cx="868680" cy="393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598664" y="5084064"/>
            <a:ext cx="758952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11111"/>
                </a:solidFill>
                <a:latin typeface="Consolas"/>
              </a:rPr>
              <a:t>wait</a:t>
            </a:r>
            <a:br/>
            <a:r>
              <a:rPr sz="690" b="1">
                <a:solidFill>
                  <a:srgbClr val="111111"/>
                </a:solidFill>
                <a:latin typeface="Consolas"/>
              </a:rPr>
              <a:t>ready_7[0:8]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458200" y="5056631"/>
            <a:ext cx="3328416" cy="393192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13064" y="5084064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Consolas"/>
              </a:rPr>
              <a:t>Y7 = [X0, X1, …, X7]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10412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879092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747772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598164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387084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502652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7052" y="5074919"/>
            <a:ext cx="457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F7D"/>
                </a:solidFill>
                <a:latin typeface="Arial"/>
              </a:rPr>
              <a:t>→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329184" y="5797296"/>
            <a:ext cx="6656832" cy="438912"/>
          </a:xfrm>
          <a:prstGeom prst="roundRect">
            <a:avLst/>
          </a:prstGeom>
          <a:solidFill>
            <a:srgbClr val="EAF2F5"/>
          </a:solidFill>
          <a:ln w="1143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30352" y="5916168"/>
            <a:ext cx="625449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855F"/>
                </a:solidFill>
                <a:latin typeface="Consolas"/>
              </a:rPr>
              <a:t>最终：Y0 = Y1 = … = Y7 = [X0, X1, …, X7]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7159752" y="5797296"/>
            <a:ext cx="4700016" cy="438912"/>
          </a:xfrm>
          <a:prstGeom prst="roundRect">
            <a:avLst/>
          </a:prstGeom>
          <a:solidFill>
            <a:srgbClr val="EAF2F5"/>
          </a:solidFill>
          <a:ln w="11430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342631" y="5916168"/>
            <a:ext cx="43342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76700"/>
                </a:solidFill>
                <a:latin typeface="Microsoft YaHei"/>
              </a:rPr>
              <a:t>每核：7×C 发送 + 7×C 接收；全系统 56×C = 7S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65760" y="6382512"/>
            <a:ext cx="11384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F7D"/>
                </a:solidFill>
                <a:latin typeface="Microsoft YaHei"/>
              </a:rPr>
              <a:t>硬件最小能力：remote DMA / NoC + 远程地址偏移 + 写入顺序/fence + completion flag；无需 Reduce Engine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65760" y="6629400"/>
            <a:ext cx="576072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B6F7D"/>
                </a:solidFill>
                <a:latin typeface="Consolas"/>
              </a:rPr>
              <a:t>AllGather remote-write flow  ·  8 cores  ·  editable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核远程写入版 AllGather 算子执行流程</dc:title>
  <dc:subject>Eight-core remote-memory-write AllGather flowchart</dc:subject>
  <dc:creator>DeepSeek-V4 Flash repository</dc:creator>
  <cp:keywords/>
  <dc:description>Editable one-slide flowchart showing simultaneous operator execution on eight cores.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